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>
      <p:cViewPr varScale="1">
        <p:scale>
          <a:sx n="70" d="100"/>
          <a:sy n="70" d="100"/>
        </p:scale>
        <p:origin x="448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06EA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06EA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06EA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06EA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8264" y="861619"/>
            <a:ext cx="17407571" cy="88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06EA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644" y="4977887"/>
            <a:ext cx="16413480" cy="2633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916080"/>
            <a:ext cx="6847959" cy="6439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0100" y="4916080"/>
            <a:ext cx="6203999" cy="643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591329" y="2192075"/>
            <a:ext cx="490791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400" dirty="0">
                <a:solidFill>
                  <a:srgbClr val="13A3E6"/>
                </a:solidFill>
              </a:rPr>
              <a:t>FINAL</a:t>
            </a:r>
            <a:r>
              <a:rPr sz="3450" spc="610" dirty="0">
                <a:solidFill>
                  <a:srgbClr val="13A3E6"/>
                </a:solidFill>
              </a:rPr>
              <a:t> </a:t>
            </a:r>
            <a:r>
              <a:rPr sz="3450" spc="390" dirty="0">
                <a:solidFill>
                  <a:srgbClr val="0AACEB"/>
                </a:solidFill>
              </a:rPr>
              <a:t>YEAR</a:t>
            </a:r>
            <a:r>
              <a:rPr sz="3450" spc="490" dirty="0">
                <a:solidFill>
                  <a:srgbClr val="0AACEB"/>
                </a:solidFill>
              </a:rPr>
              <a:t> </a:t>
            </a:r>
            <a:r>
              <a:rPr sz="3450" spc="605" dirty="0">
                <a:solidFill>
                  <a:srgbClr val="11A3F0"/>
                </a:solidFill>
              </a:rPr>
              <a:t>PROJ</a:t>
            </a:r>
            <a:r>
              <a:rPr sz="3450" spc="605" dirty="0">
                <a:solidFill>
                  <a:srgbClr val="16A7E6"/>
                </a:solidFill>
              </a:rPr>
              <a:t>ECT</a:t>
            </a:r>
            <a:endParaRPr sz="3450"/>
          </a:p>
        </p:txBody>
      </p:sp>
      <p:sp>
        <p:nvSpPr>
          <p:cNvPr id="5" name="object 5"/>
          <p:cNvSpPr txBox="1"/>
          <p:nvPr/>
        </p:nvSpPr>
        <p:spPr>
          <a:xfrm>
            <a:off x="4054075" y="2792188"/>
            <a:ext cx="11926570" cy="369062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12700" marR="5080" algn="ctr">
              <a:lnSpc>
                <a:spcPct val="79600"/>
              </a:lnSpc>
              <a:spcBef>
                <a:spcPts val="1945"/>
              </a:spcBef>
            </a:pPr>
            <a:r>
              <a:rPr sz="7450" spc="265" dirty="0">
                <a:solidFill>
                  <a:srgbClr val="0567A3"/>
                </a:solidFill>
                <a:latin typeface="Calibri"/>
                <a:cs typeface="Calibri"/>
              </a:rPr>
              <a:t>Predicting</a:t>
            </a:r>
            <a:r>
              <a:rPr sz="7450" spc="110" dirty="0">
                <a:solidFill>
                  <a:srgbClr val="0567A3"/>
                </a:solidFill>
                <a:latin typeface="Calibri"/>
                <a:cs typeface="Calibri"/>
              </a:rPr>
              <a:t> </a:t>
            </a:r>
            <a:r>
              <a:rPr sz="7450" spc="325" dirty="0">
                <a:solidFill>
                  <a:srgbClr val="0767A1"/>
                </a:solidFill>
                <a:latin typeface="Calibri"/>
                <a:cs typeface="Calibri"/>
              </a:rPr>
              <a:t>Index</a:t>
            </a:r>
            <a:r>
              <a:rPr sz="7450" spc="-355" dirty="0">
                <a:solidFill>
                  <a:srgbClr val="0767A1"/>
                </a:solidFill>
                <a:latin typeface="Calibri"/>
                <a:cs typeface="Calibri"/>
              </a:rPr>
              <a:t> </a:t>
            </a:r>
            <a:r>
              <a:rPr sz="7450" spc="335" dirty="0">
                <a:solidFill>
                  <a:srgbClr val="0169A3"/>
                </a:solidFill>
                <a:latin typeface="Calibri"/>
                <a:cs typeface="Calibri"/>
              </a:rPr>
              <a:t>Exclusion</a:t>
            </a:r>
            <a:r>
              <a:rPr sz="7450" spc="-290" dirty="0">
                <a:solidFill>
                  <a:srgbClr val="0169A3"/>
                </a:solidFill>
                <a:latin typeface="Calibri"/>
                <a:cs typeface="Calibri"/>
              </a:rPr>
              <a:t> </a:t>
            </a:r>
            <a:r>
              <a:rPr sz="7450" spc="-25" dirty="0">
                <a:solidFill>
                  <a:srgbClr val="006B9A"/>
                </a:solidFill>
                <a:latin typeface="Calibri"/>
                <a:cs typeface="Calibri"/>
              </a:rPr>
              <a:t>of </a:t>
            </a:r>
            <a:r>
              <a:rPr sz="7450" spc="480" dirty="0">
                <a:solidFill>
                  <a:srgbClr val="016B9E"/>
                </a:solidFill>
                <a:latin typeface="Calibri"/>
                <a:cs typeface="Calibri"/>
              </a:rPr>
              <a:t>Non-</a:t>
            </a:r>
            <a:r>
              <a:rPr sz="7450" spc="380" dirty="0">
                <a:solidFill>
                  <a:srgbClr val="016B9E"/>
                </a:solidFill>
                <a:latin typeface="Calibri"/>
                <a:cs typeface="Calibri"/>
              </a:rPr>
              <a:t>Financial</a:t>
            </a:r>
            <a:r>
              <a:rPr sz="7450" spc="-175" dirty="0">
                <a:solidFill>
                  <a:srgbClr val="016B9E"/>
                </a:solidFill>
                <a:latin typeface="Calibri"/>
                <a:cs typeface="Calibri"/>
              </a:rPr>
              <a:t> </a:t>
            </a:r>
            <a:r>
              <a:rPr sz="7450" spc="360" dirty="0">
                <a:solidFill>
                  <a:srgbClr val="0169A1"/>
                </a:solidFill>
                <a:latin typeface="Calibri"/>
                <a:cs typeface="Calibri"/>
              </a:rPr>
              <a:t>Firms</a:t>
            </a:r>
            <a:r>
              <a:rPr sz="7450" spc="-120" dirty="0">
                <a:solidFill>
                  <a:srgbClr val="0169A1"/>
                </a:solidFill>
                <a:latin typeface="Calibri"/>
                <a:cs typeface="Calibri"/>
              </a:rPr>
              <a:t> </a:t>
            </a:r>
            <a:r>
              <a:rPr sz="7450" spc="265" dirty="0">
                <a:solidFill>
                  <a:srgbClr val="0169A1"/>
                </a:solidFill>
                <a:latin typeface="Calibri"/>
                <a:cs typeface="Calibri"/>
              </a:rPr>
              <a:t>from </a:t>
            </a:r>
            <a:r>
              <a:rPr sz="7200" spc="305" dirty="0">
                <a:solidFill>
                  <a:srgbClr val="006E95"/>
                </a:solidFill>
                <a:latin typeface="Calibri"/>
                <a:cs typeface="Calibri"/>
              </a:rPr>
              <a:t>KSE-</a:t>
            </a:r>
            <a:r>
              <a:rPr sz="7200" spc="355" dirty="0">
                <a:solidFill>
                  <a:srgbClr val="006E95"/>
                </a:solidFill>
                <a:latin typeface="Calibri"/>
                <a:cs typeface="Calibri"/>
              </a:rPr>
              <a:t>100</a:t>
            </a:r>
            <a:r>
              <a:rPr sz="7200" spc="-250" dirty="0">
                <a:solidFill>
                  <a:srgbClr val="006E95"/>
                </a:solidFill>
                <a:latin typeface="Calibri"/>
                <a:cs typeface="Calibri"/>
              </a:rPr>
              <a:t> </a:t>
            </a:r>
            <a:r>
              <a:rPr sz="7200" spc="434" dirty="0">
                <a:solidFill>
                  <a:srgbClr val="0169A1"/>
                </a:solidFill>
                <a:latin typeface="Calibri"/>
                <a:cs typeface="Calibri"/>
              </a:rPr>
              <a:t>Index</a:t>
            </a:r>
            <a:endParaRPr sz="7200">
              <a:latin typeface="Calibri"/>
              <a:cs typeface="Calibri"/>
            </a:endParaRPr>
          </a:p>
          <a:p>
            <a:pPr marL="20955" algn="ctr">
              <a:lnSpc>
                <a:spcPct val="100000"/>
              </a:lnSpc>
              <a:spcBef>
                <a:spcPts val="1885"/>
              </a:spcBef>
            </a:pPr>
            <a:r>
              <a:rPr sz="3350" spc="135" dirty="0">
                <a:solidFill>
                  <a:srgbClr val="4B5B66"/>
                </a:solidFill>
                <a:latin typeface="Calibri"/>
                <a:cs typeface="Calibri"/>
              </a:rPr>
              <a:t>A</a:t>
            </a:r>
            <a:r>
              <a:rPr sz="3350" spc="-215" dirty="0">
                <a:solidFill>
                  <a:srgbClr val="4B5B66"/>
                </a:solidFill>
                <a:latin typeface="Calibri"/>
                <a:cs typeface="Calibri"/>
              </a:rPr>
              <a:t> </a:t>
            </a:r>
            <a:r>
              <a:rPr sz="3350" spc="-65" dirty="0">
                <a:solidFill>
                  <a:srgbClr val="444F66"/>
                </a:solidFill>
                <a:latin typeface="Calibri"/>
                <a:cs typeface="Calibri"/>
              </a:rPr>
              <a:t>Comparative</a:t>
            </a:r>
            <a:r>
              <a:rPr sz="3350" spc="-110" dirty="0">
                <a:solidFill>
                  <a:srgbClr val="444F66"/>
                </a:solidFill>
                <a:latin typeface="Calibri"/>
                <a:cs typeface="Calibri"/>
              </a:rPr>
              <a:t> </a:t>
            </a:r>
            <a:r>
              <a:rPr sz="3350" spc="-120" dirty="0">
                <a:solidFill>
                  <a:srgbClr val="444444"/>
                </a:solidFill>
                <a:latin typeface="Calibri"/>
                <a:cs typeface="Calibri"/>
              </a:rPr>
              <a:t>Machine</a:t>
            </a:r>
            <a:r>
              <a:rPr sz="33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350" spc="-55" dirty="0">
                <a:solidFill>
                  <a:srgbClr val="444444"/>
                </a:solidFill>
                <a:latin typeface="Calibri"/>
                <a:cs typeface="Calibri"/>
              </a:rPr>
              <a:t>Learning</a:t>
            </a:r>
            <a:r>
              <a:rPr sz="335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350" spc="-95" dirty="0">
                <a:solidFill>
                  <a:srgbClr val="414141"/>
                </a:solidFill>
                <a:latin typeface="Calibri"/>
                <a:cs typeface="Calibri"/>
              </a:rPr>
              <a:t>Study</a:t>
            </a:r>
            <a:r>
              <a:rPr sz="3350" spc="-10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350" spc="-55" dirty="0">
                <a:solidFill>
                  <a:srgbClr val="3F3F3F"/>
                </a:solidFill>
                <a:latin typeface="Calibri"/>
                <a:cs typeface="Calibri"/>
              </a:rPr>
              <a:t>(2020-</a:t>
            </a:r>
            <a:r>
              <a:rPr sz="3350" spc="-10" dirty="0">
                <a:solidFill>
                  <a:srgbClr val="3F3F3F"/>
                </a:solidFill>
                <a:latin typeface="Calibri"/>
                <a:cs typeface="Calibri"/>
              </a:rPr>
              <a:t>2024)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8515" y="8384950"/>
            <a:ext cx="479615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Abdullah</a:t>
            </a:r>
            <a:r>
              <a:rPr sz="2550" spc="2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Anayat</a:t>
            </a:r>
            <a:r>
              <a:rPr sz="2550" spc="-1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90" dirty="0">
                <a:solidFill>
                  <a:srgbClr val="2D3F67"/>
                </a:solidFill>
                <a:latin typeface="Calibri"/>
                <a:cs typeface="Calibri"/>
              </a:rPr>
              <a:t>|</a:t>
            </a:r>
            <a:r>
              <a:rPr sz="2550" spc="-80" dirty="0">
                <a:solidFill>
                  <a:srgbClr val="2D3F67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(MSBA)</a:t>
            </a:r>
            <a:endParaRPr sz="2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942379"/>
            <a:ext cx="125650" cy="8952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4540" y="5991964"/>
            <a:ext cx="243448" cy="2434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4540" y="6541685"/>
            <a:ext cx="251301" cy="2434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4540" y="7091407"/>
            <a:ext cx="251301" cy="24344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30" dirty="0">
                <a:solidFill>
                  <a:srgbClr val="006DA3"/>
                </a:solidFill>
              </a:rPr>
              <a:t>Problem</a:t>
            </a:r>
            <a:r>
              <a:rPr spc="-285" dirty="0">
                <a:solidFill>
                  <a:srgbClr val="006DA3"/>
                </a:solidFill>
              </a:rPr>
              <a:t> </a:t>
            </a:r>
            <a:r>
              <a:rPr spc="229" dirty="0">
                <a:solidFill>
                  <a:srgbClr val="0E649C"/>
                </a:solidFill>
              </a:rPr>
              <a:t>&amp;</a:t>
            </a:r>
            <a:r>
              <a:rPr spc="-720" dirty="0">
                <a:solidFill>
                  <a:srgbClr val="0E649C"/>
                </a:solidFill>
              </a:rPr>
              <a:t> </a:t>
            </a:r>
            <a:r>
              <a:rPr spc="229" dirty="0">
                <a:solidFill>
                  <a:srgbClr val="0864A8"/>
                </a:solidFill>
              </a:rPr>
              <a:t>Research</a:t>
            </a:r>
            <a:r>
              <a:rPr spc="-315" dirty="0">
                <a:solidFill>
                  <a:srgbClr val="0864A8"/>
                </a:solidFill>
              </a:rPr>
              <a:t> </a:t>
            </a:r>
            <a:r>
              <a:rPr spc="150" dirty="0">
                <a:solidFill>
                  <a:srgbClr val="006BA3"/>
                </a:solidFill>
              </a:rPr>
              <a:t>Objectives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0382" y="4985839"/>
            <a:ext cx="7822565" cy="24352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145" dirty="0">
                <a:solidFill>
                  <a:srgbClr val="0367A3"/>
                </a:solidFill>
                <a:latin typeface="Calibri"/>
                <a:cs typeface="Calibri"/>
              </a:rPr>
              <a:t>Problem</a:t>
            </a:r>
            <a:r>
              <a:rPr sz="3850" spc="-5" dirty="0">
                <a:solidFill>
                  <a:srgbClr val="0367A3"/>
                </a:solidFill>
                <a:latin typeface="Calibri"/>
                <a:cs typeface="Calibri"/>
              </a:rPr>
              <a:t> </a:t>
            </a:r>
            <a:r>
              <a:rPr sz="3850" spc="110" dirty="0">
                <a:solidFill>
                  <a:srgbClr val="0069A3"/>
                </a:solidFill>
                <a:latin typeface="Calibri"/>
                <a:cs typeface="Calibri"/>
              </a:rPr>
              <a:t>Statement</a:t>
            </a:r>
            <a:endParaRPr sz="3850">
              <a:latin typeface="Calibri"/>
              <a:cs typeface="Calibri"/>
            </a:endParaRPr>
          </a:p>
          <a:p>
            <a:pPr marL="23495" marR="5080" indent="10160">
              <a:lnSpc>
                <a:spcPts val="2840"/>
              </a:lnSpc>
              <a:spcBef>
                <a:spcPts val="3015"/>
              </a:spcBef>
            </a:pPr>
            <a:r>
              <a:rPr sz="2550" spc="120" dirty="0">
                <a:solidFill>
                  <a:srgbClr val="212121"/>
                </a:solidFill>
                <a:latin typeface="Calibri"/>
                <a:cs typeface="Calibri"/>
              </a:rPr>
              <a:t>PSX</a:t>
            </a:r>
            <a:r>
              <a:rPr sz="2550" spc="-1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1818"/>
                </a:solidFill>
                <a:latin typeface="Calibri"/>
                <a:cs typeface="Calibri"/>
              </a:rPr>
              <a:t>rebalancing</a:t>
            </a:r>
            <a:r>
              <a:rPr sz="2550" spc="19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sz="255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traditionally</a:t>
            </a:r>
            <a:r>
              <a:rPr sz="2550" spc="2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driven</a:t>
            </a:r>
            <a:r>
              <a:rPr sz="255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255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Calibri"/>
                <a:cs typeface="Calibri"/>
              </a:rPr>
              <a:t>market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capitalization.</a:t>
            </a:r>
            <a:r>
              <a:rPr sz="2550" spc="-2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However,</a:t>
            </a:r>
            <a:r>
              <a:rPr sz="2550" spc="-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Calibri"/>
                <a:cs typeface="Calibri"/>
              </a:rPr>
              <a:t>there</a:t>
            </a:r>
            <a:r>
              <a:rPr sz="2550" spc="-1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1818"/>
                </a:solidFill>
                <a:latin typeface="Calibri"/>
                <a:cs typeface="Calibri"/>
              </a:rPr>
              <a:t>is</a:t>
            </a:r>
            <a:r>
              <a:rPr sz="2550" spc="-1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no</a:t>
            </a:r>
            <a:r>
              <a:rPr sz="2550" spc="-9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integrated</a:t>
            </a:r>
            <a:r>
              <a:rPr sz="2550" spc="9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31313"/>
                </a:solidFill>
                <a:latin typeface="Calibri"/>
                <a:cs typeface="Calibri"/>
              </a:rPr>
              <a:t>model</a:t>
            </a:r>
            <a:r>
              <a:rPr sz="2550" spc="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212121"/>
                </a:solidFill>
                <a:latin typeface="Calibri"/>
                <a:cs typeface="Calibri"/>
              </a:rPr>
              <a:t>that </a:t>
            </a:r>
            <a:r>
              <a:rPr sz="2550" spc="-20" dirty="0">
                <a:solidFill>
                  <a:srgbClr val="1A1A1A"/>
                </a:solidFill>
                <a:latin typeface="Calibri"/>
                <a:cs typeface="Calibri"/>
              </a:rPr>
              <a:t>anticipates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index</a:t>
            </a:r>
            <a:r>
              <a:rPr sz="2550" spc="-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removal</a:t>
            </a:r>
            <a:r>
              <a:rPr sz="255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using</a:t>
            </a:r>
            <a:r>
              <a:rPr sz="255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firm-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level</a:t>
            </a:r>
            <a:r>
              <a:rPr sz="2550" spc="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financial</a:t>
            </a:r>
            <a:r>
              <a:rPr sz="255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Calibri"/>
                <a:cs typeface="Calibri"/>
              </a:rPr>
              <a:t>distress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signals</a:t>
            </a:r>
            <a:r>
              <a:rPr sz="2550" spc="-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2550" spc="-1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31313"/>
                </a:solidFill>
                <a:latin typeface="Calibri"/>
                <a:cs typeface="Calibri"/>
              </a:rPr>
              <a:t>macroeconomic</a:t>
            </a:r>
            <a:r>
              <a:rPr sz="2550" spc="7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61616"/>
                </a:solidFill>
                <a:latin typeface="Calibri"/>
                <a:cs typeface="Calibri"/>
              </a:rPr>
              <a:t>indicators.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4179" y="4985839"/>
            <a:ext cx="6382385" cy="24072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>
                <a:solidFill>
                  <a:srgbClr val="006BAA"/>
                </a:solidFill>
                <a:latin typeface="Calibri"/>
                <a:cs typeface="Calibri"/>
              </a:rPr>
              <a:t>Key</a:t>
            </a:r>
            <a:r>
              <a:rPr sz="3850" spc="570" dirty="0">
                <a:solidFill>
                  <a:srgbClr val="006BAA"/>
                </a:solidFill>
                <a:latin typeface="Calibri"/>
                <a:cs typeface="Calibri"/>
              </a:rPr>
              <a:t> </a:t>
            </a:r>
            <a:r>
              <a:rPr sz="3850" spc="65" dirty="0">
                <a:solidFill>
                  <a:srgbClr val="00669A"/>
                </a:solidFill>
                <a:latin typeface="Calibri"/>
                <a:cs typeface="Calibri"/>
              </a:rPr>
              <a:t>Objectives</a:t>
            </a:r>
            <a:endParaRPr sz="3850">
              <a:latin typeface="Calibri"/>
              <a:cs typeface="Calibri"/>
            </a:endParaRPr>
          </a:p>
          <a:p>
            <a:pPr marL="574040" marR="5080">
              <a:lnSpc>
                <a:spcPct val="133600"/>
              </a:lnSpc>
              <a:spcBef>
                <a:spcPts val="1130"/>
              </a:spcBef>
            </a:pPr>
            <a:r>
              <a:rPr sz="2700" spc="-65" dirty="0">
                <a:solidFill>
                  <a:srgbClr val="181818"/>
                </a:solidFill>
                <a:latin typeface="Calibri"/>
                <a:cs typeface="Calibri"/>
              </a:rPr>
              <a:t>Develop</a:t>
            </a:r>
            <a:r>
              <a:rPr sz="2700" spc="-9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700" spc="-105" dirty="0">
                <a:solidFill>
                  <a:srgbClr val="1F1F1F"/>
                </a:solidFill>
                <a:latin typeface="Calibri"/>
                <a:cs typeface="Calibri"/>
              </a:rPr>
              <a:t>an</a:t>
            </a:r>
            <a:r>
              <a:rPr sz="2700" spc="-9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1F1F1F"/>
                </a:solidFill>
                <a:latin typeface="Calibri"/>
                <a:cs typeface="Calibri"/>
              </a:rPr>
              <a:t>Early-</a:t>
            </a:r>
            <a:r>
              <a:rPr sz="2700" spc="-10" dirty="0">
                <a:solidFill>
                  <a:srgbClr val="1F1F1F"/>
                </a:solidFill>
                <a:latin typeface="Calibri"/>
                <a:cs typeface="Calibri"/>
              </a:rPr>
              <a:t>Warning</a:t>
            </a:r>
            <a:r>
              <a:rPr sz="2700" spc="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700" spc="-105" dirty="0">
                <a:solidFill>
                  <a:srgbClr val="1C1C1C"/>
                </a:solidFill>
                <a:latin typeface="Calibri"/>
                <a:cs typeface="Calibri"/>
              </a:rPr>
              <a:t>system</a:t>
            </a:r>
            <a:r>
              <a:rPr sz="2700" spc="-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1F1F1F"/>
                </a:solidFill>
                <a:latin typeface="Calibri"/>
                <a:cs typeface="Calibri"/>
              </a:rPr>
              <a:t>for</a:t>
            </a:r>
            <a:r>
              <a:rPr sz="2700" spc="-1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161616"/>
                </a:solidFill>
                <a:latin typeface="Calibri"/>
                <a:cs typeface="Calibri"/>
              </a:rPr>
              <a:t>PSX. </a:t>
            </a:r>
            <a:r>
              <a:rPr sz="2700" spc="-30" dirty="0">
                <a:solidFill>
                  <a:srgbClr val="161616"/>
                </a:solidFill>
                <a:latin typeface="Calibri"/>
                <a:cs typeface="Calibri"/>
              </a:rPr>
              <a:t>Contrast</a:t>
            </a:r>
            <a:r>
              <a:rPr sz="2700" spc="-1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181818"/>
                </a:solidFill>
                <a:latin typeface="Calibri"/>
                <a:cs typeface="Calibri"/>
              </a:rPr>
              <a:t>performance</a:t>
            </a:r>
            <a:r>
              <a:rPr sz="2700" spc="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2700" spc="-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1A1A1A"/>
                </a:solidFill>
                <a:latin typeface="Calibri"/>
                <a:cs typeface="Calibri"/>
              </a:rPr>
              <a:t>LR,</a:t>
            </a:r>
            <a:r>
              <a:rPr sz="2700" spc="-2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700" spc="-145" dirty="0">
                <a:solidFill>
                  <a:srgbClr val="111111"/>
                </a:solidFill>
                <a:latin typeface="Calibri"/>
                <a:cs typeface="Calibri"/>
              </a:rPr>
              <a:t>DT,</a:t>
            </a:r>
            <a:r>
              <a:rPr sz="2700" spc="-9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700" spc="-100" dirty="0">
                <a:solidFill>
                  <a:srgbClr val="1A1A1A"/>
                </a:solidFill>
                <a:latin typeface="Calibri"/>
                <a:cs typeface="Calibri"/>
              </a:rPr>
              <a:t>RF,</a:t>
            </a:r>
            <a:r>
              <a:rPr sz="2700" spc="-1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700" spc="-85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270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1C1C1C"/>
                </a:solidFill>
                <a:latin typeface="Calibri"/>
                <a:cs typeface="Calibri"/>
              </a:rPr>
              <a:t>GB. </a:t>
            </a:r>
            <a:r>
              <a:rPr sz="2700" spc="-40" dirty="0">
                <a:solidFill>
                  <a:srgbClr val="1D1D1D"/>
                </a:solidFill>
                <a:latin typeface="Calibri"/>
                <a:cs typeface="Calibri"/>
              </a:rPr>
              <a:t>Address</a:t>
            </a:r>
            <a:r>
              <a:rPr sz="2700" spc="-11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1D1D1D"/>
                </a:solidFill>
                <a:latin typeface="Calibri"/>
                <a:cs typeface="Calibri"/>
              </a:rPr>
              <a:t>Class</a:t>
            </a:r>
            <a:r>
              <a:rPr sz="2700" spc="-15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161616"/>
                </a:solidFill>
                <a:latin typeface="Calibri"/>
                <a:cs typeface="Calibri"/>
              </a:rPr>
              <a:t>Imbalance </a:t>
            </a:r>
            <a:r>
              <a:rPr sz="2700" spc="-30" dirty="0">
                <a:solidFill>
                  <a:srgbClr val="1A1A1A"/>
                </a:solidFill>
                <a:latin typeface="Calibri"/>
                <a:cs typeface="Calibri"/>
              </a:rPr>
              <a:t>using</a:t>
            </a:r>
            <a:r>
              <a:rPr sz="27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1A1A1A"/>
                </a:solidFill>
                <a:latin typeface="Calibri"/>
                <a:cs typeface="Calibri"/>
              </a:rPr>
              <a:t>SMOTE.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973700"/>
            <a:ext cx="20088393" cy="83243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4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30"/>
              </a:spcBef>
            </a:pPr>
            <a:r>
              <a:rPr sz="5250" spc="425" dirty="0"/>
              <a:t>Data</a:t>
            </a:r>
            <a:r>
              <a:rPr sz="5250" spc="-285" dirty="0"/>
              <a:t> </a:t>
            </a:r>
            <a:r>
              <a:rPr sz="5250" spc="290" dirty="0">
                <a:solidFill>
                  <a:srgbClr val="08679C"/>
                </a:solidFill>
              </a:rPr>
              <a:t>Collection</a:t>
            </a:r>
            <a:r>
              <a:rPr sz="5250" spc="-135" dirty="0">
                <a:solidFill>
                  <a:srgbClr val="08679C"/>
                </a:solidFill>
              </a:rPr>
              <a:t> </a:t>
            </a:r>
            <a:r>
              <a:rPr sz="5250" spc="500" dirty="0">
                <a:solidFill>
                  <a:srgbClr val="056993"/>
                </a:solidFill>
              </a:rPr>
              <a:t>&amp;</a:t>
            </a:r>
            <a:r>
              <a:rPr sz="5250" spc="-490" dirty="0">
                <a:solidFill>
                  <a:srgbClr val="056993"/>
                </a:solidFill>
              </a:rPr>
              <a:t> </a:t>
            </a:r>
            <a:r>
              <a:rPr sz="5250" spc="340" dirty="0">
                <a:solidFill>
                  <a:srgbClr val="0366A3"/>
                </a:solidFill>
              </a:rPr>
              <a:t>Sources</a:t>
            </a:r>
            <a:endParaRPr sz="525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18744" y="5024061"/>
          <a:ext cx="15550515" cy="2588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4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31750">
                        <a:lnSpc>
                          <a:spcPts val="2440"/>
                        </a:lnSpc>
                      </a:pPr>
                      <a:r>
                        <a:rPr sz="255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2550" spc="235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Ratios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2440"/>
                        </a:lnSpc>
                      </a:pP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Annual</a:t>
                      </a:r>
                      <a:r>
                        <a:rPr sz="2550" spc="-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Reports</a:t>
                      </a:r>
                      <a:r>
                        <a:rPr sz="25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75" dirty="0">
                          <a:solidFill>
                            <a:srgbClr val="13365B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550" spc="-175" dirty="0">
                          <a:solidFill>
                            <a:srgbClr val="13365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PSX</a:t>
                      </a:r>
                      <a:r>
                        <a:rPr sz="2550" spc="4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Portal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ts val="2440"/>
                        </a:lnSpc>
                      </a:pPr>
                      <a:r>
                        <a:rPr sz="2550" spc="7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ROA,</a:t>
                      </a:r>
                      <a:r>
                        <a:rPr sz="2550" spc="-9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ROE,</a:t>
                      </a:r>
                      <a:r>
                        <a:rPr sz="2550" spc="-8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Debt/Equity,</a:t>
                      </a:r>
                      <a:r>
                        <a:rPr sz="2550" spc="10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2550" spc="1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Ratio.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Market</a:t>
                      </a:r>
                      <a:r>
                        <a:rPr sz="2550" spc="55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Indicators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PSX</a:t>
                      </a:r>
                      <a:r>
                        <a:rPr sz="2550" spc="2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2550" spc="75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Portal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Stock</a:t>
                      </a: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Return,</a:t>
                      </a:r>
                      <a:r>
                        <a:rPr sz="2550" spc="-1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Volatility,</a:t>
                      </a:r>
                      <a:r>
                        <a:rPr sz="2550" spc="-2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Trading</a:t>
                      </a:r>
                      <a:r>
                        <a:rPr sz="2550" spc="-15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Volume.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200" spc="16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Macroeconomic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sz="2550" spc="-5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r>
                        <a:rPr sz="2550" spc="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7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/WorId</a:t>
                      </a:r>
                      <a:r>
                        <a:rPr sz="2550" spc="3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2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9810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10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GDP</a:t>
                      </a:r>
                      <a:r>
                        <a:rPr sz="2550" spc="2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growth,</a:t>
                      </a:r>
                      <a:r>
                        <a:rPr sz="2550" spc="-10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Annual</a:t>
                      </a:r>
                      <a:r>
                        <a:rPr sz="2550" spc="13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Inflation</a:t>
                      </a:r>
                      <a:r>
                        <a:rPr sz="2550" spc="11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Rate.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sz="2550" spc="-12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Variable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PSX</a:t>
                      </a:r>
                      <a:r>
                        <a:rPr sz="2550" spc="2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Rebalancing</a:t>
                      </a:r>
                      <a:r>
                        <a:rPr sz="2550" spc="12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2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Exclusion</a:t>
                      </a:r>
                      <a:r>
                        <a:rPr sz="2550" spc="1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r>
                        <a:rPr sz="2550" spc="-6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(1</a:t>
                      </a: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550" spc="-1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Excluded,</a:t>
                      </a:r>
                      <a:r>
                        <a:rPr sz="2550" spc="-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114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550" spc="-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550" spc="-10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D1D1D"/>
                          </a:solidFill>
                          <a:latin typeface="Calibri"/>
                          <a:cs typeface="Calibri"/>
                        </a:rPr>
                        <a:t>Retained).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28506" y="8103544"/>
            <a:ext cx="67341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45" dirty="0">
                <a:solidFill>
                  <a:srgbClr val="0169A8"/>
                </a:solidFill>
                <a:latin typeface="Calibri"/>
                <a:cs typeface="Calibri"/>
              </a:rPr>
              <a:t>Final</a:t>
            </a:r>
            <a:r>
              <a:rPr sz="2300" spc="-50" dirty="0">
                <a:solidFill>
                  <a:srgbClr val="0169A8"/>
                </a:solidFill>
                <a:latin typeface="Calibri"/>
                <a:cs typeface="Calibri"/>
              </a:rPr>
              <a:t> </a:t>
            </a:r>
            <a:r>
              <a:rPr sz="2300" spc="90" dirty="0">
                <a:solidFill>
                  <a:srgbClr val="005B9C"/>
                </a:solidFill>
                <a:latin typeface="Calibri"/>
                <a:cs typeface="Calibri"/>
              </a:rPr>
              <a:t>Sample:</a:t>
            </a:r>
            <a:r>
              <a:rPr sz="2300" spc="70" dirty="0">
                <a:solidFill>
                  <a:srgbClr val="005B9C"/>
                </a:solidFill>
                <a:latin typeface="Calibri"/>
                <a:cs typeface="Calibri"/>
              </a:rPr>
              <a:t> </a:t>
            </a:r>
            <a:r>
              <a:rPr sz="2300" spc="110" dirty="0">
                <a:solidFill>
                  <a:srgbClr val="0364AA"/>
                </a:solidFill>
                <a:latin typeface="Calibri"/>
                <a:cs typeface="Calibri"/>
              </a:rPr>
              <a:t>337</a:t>
            </a:r>
            <a:r>
              <a:rPr sz="2300" spc="170" dirty="0">
                <a:solidFill>
                  <a:srgbClr val="0364AA"/>
                </a:solidFill>
                <a:latin typeface="Calibri"/>
                <a:cs typeface="Calibri"/>
              </a:rPr>
              <a:t> </a:t>
            </a:r>
            <a:r>
              <a:rPr sz="2300" spc="120" dirty="0">
                <a:solidFill>
                  <a:srgbClr val="00709E"/>
                </a:solidFill>
                <a:latin typeface="Calibri"/>
                <a:cs typeface="Calibri"/>
              </a:rPr>
              <a:t>panel</a:t>
            </a:r>
            <a:r>
              <a:rPr sz="2300" spc="-55" dirty="0">
                <a:solidFill>
                  <a:srgbClr val="00709E"/>
                </a:solidFill>
                <a:latin typeface="Calibri"/>
                <a:cs typeface="Calibri"/>
              </a:rPr>
              <a:t> </a:t>
            </a:r>
            <a:r>
              <a:rPr sz="2300" spc="114" dirty="0">
                <a:solidFill>
                  <a:srgbClr val="0172AF"/>
                </a:solidFill>
                <a:latin typeface="Calibri"/>
                <a:cs typeface="Calibri"/>
              </a:rPr>
              <a:t>observations</a:t>
            </a:r>
            <a:r>
              <a:rPr sz="2300" spc="10" dirty="0">
                <a:solidFill>
                  <a:srgbClr val="0172AF"/>
                </a:solidFill>
                <a:latin typeface="Calibri"/>
                <a:cs typeface="Calibri"/>
              </a:rPr>
              <a:t> </a:t>
            </a:r>
            <a:r>
              <a:rPr sz="2300" spc="130" dirty="0">
                <a:solidFill>
                  <a:srgbClr val="0064A3"/>
                </a:solidFill>
                <a:latin typeface="Calibri"/>
                <a:cs typeface="Calibri"/>
              </a:rPr>
              <a:t>over</a:t>
            </a:r>
            <a:r>
              <a:rPr sz="2300" spc="75" dirty="0">
                <a:solidFill>
                  <a:srgbClr val="0064A3"/>
                </a:solidFill>
                <a:latin typeface="Calibri"/>
                <a:cs typeface="Calibri"/>
              </a:rPr>
              <a:t> </a:t>
            </a:r>
            <a:r>
              <a:rPr sz="2300" spc="160" dirty="0">
                <a:solidFill>
                  <a:srgbClr val="005EAC"/>
                </a:solidFill>
                <a:latin typeface="Calibri"/>
                <a:cs typeface="Calibri"/>
              </a:rPr>
              <a:t>5</a:t>
            </a:r>
            <a:r>
              <a:rPr sz="2300" spc="-40" dirty="0">
                <a:solidFill>
                  <a:srgbClr val="005EAC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0060B3"/>
                </a:solidFill>
                <a:latin typeface="Calibri"/>
                <a:cs typeface="Calibri"/>
              </a:rPr>
              <a:t>years.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4799" y="4994612"/>
            <a:ext cx="581134" cy="6046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01588" y="5010318"/>
            <a:ext cx="738197" cy="5889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95726" y="5010318"/>
            <a:ext cx="659665" cy="5889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62459" y="5057437"/>
            <a:ext cx="596840" cy="51830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z="5800" b="1" spc="50" dirty="0">
                <a:latin typeface="Calibri"/>
                <a:cs typeface="Calibri"/>
              </a:rPr>
              <a:t>Data</a:t>
            </a:r>
            <a:r>
              <a:rPr sz="5800" b="1" spc="-275" dirty="0">
                <a:latin typeface="Calibri"/>
                <a:cs typeface="Calibri"/>
              </a:rPr>
              <a:t> </a:t>
            </a:r>
            <a:r>
              <a:rPr sz="5800" b="1" spc="140" dirty="0">
                <a:solidFill>
                  <a:srgbClr val="006DA0"/>
                </a:solidFill>
                <a:latin typeface="Calibri"/>
                <a:cs typeface="Calibri"/>
              </a:rPr>
              <a:t>Pre-</a:t>
            </a:r>
            <a:r>
              <a:rPr sz="5800" b="1" spc="145" dirty="0">
                <a:solidFill>
                  <a:srgbClr val="006DA0"/>
                </a:solidFill>
                <a:latin typeface="Calibri"/>
                <a:cs typeface="Calibri"/>
              </a:rPr>
              <a:t>processing</a:t>
            </a:r>
            <a:r>
              <a:rPr sz="5800" b="1" spc="-300" dirty="0">
                <a:solidFill>
                  <a:srgbClr val="006DA0"/>
                </a:solidFill>
                <a:latin typeface="Calibri"/>
                <a:cs typeface="Calibri"/>
              </a:rPr>
              <a:t> </a:t>
            </a:r>
            <a:r>
              <a:rPr sz="5800" b="1" spc="-10" dirty="0">
                <a:solidFill>
                  <a:srgbClr val="0169A3"/>
                </a:solidFill>
                <a:latin typeface="Calibri"/>
                <a:cs typeface="Calibri"/>
              </a:rPr>
              <a:t>Pipeline</a:t>
            </a:r>
            <a:endParaRPr sz="5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9773" y="5802567"/>
            <a:ext cx="2976245" cy="177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15"/>
              </a:spcBef>
            </a:pPr>
            <a:r>
              <a:rPr sz="3850" b="1" spc="120" dirty="0">
                <a:solidFill>
                  <a:srgbClr val="006DA5"/>
                </a:solidFill>
                <a:latin typeface="Calibri"/>
                <a:cs typeface="Calibri"/>
              </a:rPr>
              <a:t>Cleaning</a:t>
            </a:r>
            <a:endParaRPr sz="3850">
              <a:latin typeface="Calibri"/>
              <a:cs typeface="Calibri"/>
            </a:endParaRPr>
          </a:p>
          <a:p>
            <a:pPr marL="12700" marR="5080" indent="-2540" algn="ctr">
              <a:lnSpc>
                <a:spcPts val="2230"/>
              </a:lnSpc>
              <a:spcBef>
                <a:spcPts val="2515"/>
              </a:spcBef>
            </a:pPr>
            <a:r>
              <a:rPr sz="2050" spc="-35" dirty="0">
                <a:solidFill>
                  <a:srgbClr val="1A1A1A"/>
                </a:solidFill>
                <a:latin typeface="Calibri"/>
                <a:cs typeface="Calibri"/>
              </a:rPr>
              <a:t>Median</a:t>
            </a:r>
            <a:r>
              <a:rPr sz="2050" spc="-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111111"/>
                </a:solidFill>
                <a:latin typeface="Calibri"/>
                <a:cs typeface="Calibri"/>
              </a:rPr>
              <a:t>Imputation</a:t>
            </a:r>
            <a:r>
              <a:rPr sz="2050" spc="-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31313"/>
                </a:solidFill>
                <a:latin typeface="Calibri"/>
                <a:cs typeface="Calibri"/>
              </a:rPr>
              <a:t>handled </a:t>
            </a:r>
            <a:r>
              <a:rPr sz="2050" spc="-20" dirty="0">
                <a:solidFill>
                  <a:srgbClr val="1C1C1C"/>
                </a:solidFill>
                <a:latin typeface="Calibri"/>
                <a:cs typeface="Calibri"/>
              </a:rPr>
              <a:t>missing</a:t>
            </a:r>
            <a:r>
              <a:rPr sz="2050" spc="-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232323"/>
                </a:solidFill>
                <a:latin typeface="Calibri"/>
                <a:cs typeface="Calibri"/>
              </a:rPr>
              <a:t>values</a:t>
            </a:r>
            <a:r>
              <a:rPr sz="205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242424"/>
                </a:solidFill>
                <a:latin typeface="Calibri"/>
                <a:cs typeface="Calibri"/>
              </a:rPr>
              <a:t>in</a:t>
            </a:r>
            <a:r>
              <a:rPr sz="2050" spc="-1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A1A1A"/>
                </a:solidFill>
                <a:latin typeface="Calibri"/>
                <a:cs typeface="Calibri"/>
              </a:rPr>
              <a:t>Interest </a:t>
            </a:r>
            <a:r>
              <a:rPr sz="2050" dirty="0">
                <a:solidFill>
                  <a:srgbClr val="1A1A1A"/>
                </a:solidFill>
                <a:latin typeface="Calibri"/>
                <a:cs typeface="Calibri"/>
              </a:rPr>
              <a:t>Coverage</a:t>
            </a:r>
            <a:r>
              <a:rPr sz="205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2050" spc="-1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spc="105" dirty="0">
                <a:solidFill>
                  <a:srgbClr val="1C1C1C"/>
                </a:solidFill>
                <a:latin typeface="Calibri"/>
                <a:cs typeface="Calibri"/>
              </a:rPr>
              <a:t>EBIT</a:t>
            </a:r>
            <a:r>
              <a:rPr sz="2050" spc="-10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A1A1A"/>
                </a:solidFill>
                <a:latin typeface="Calibri"/>
                <a:cs typeface="Calibri"/>
              </a:rPr>
              <a:t>Margins.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2070" y="5802567"/>
            <a:ext cx="3174365" cy="177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15"/>
              </a:spcBef>
            </a:pPr>
            <a:r>
              <a:rPr sz="3850" b="1" spc="-10" dirty="0">
                <a:solidFill>
                  <a:srgbClr val="006B9C"/>
                </a:solidFill>
                <a:latin typeface="Calibri"/>
                <a:cs typeface="Calibri"/>
              </a:rPr>
              <a:t>Outliers</a:t>
            </a:r>
            <a:endParaRPr sz="3850">
              <a:latin typeface="Calibri"/>
              <a:cs typeface="Calibri"/>
            </a:endParaRPr>
          </a:p>
          <a:p>
            <a:pPr marL="12700" marR="5080" algn="ctr">
              <a:lnSpc>
                <a:spcPts val="2230"/>
              </a:lnSpc>
              <a:spcBef>
                <a:spcPts val="2515"/>
              </a:spcBef>
            </a:pPr>
            <a:r>
              <a:rPr sz="2050" spc="-10" dirty="0">
                <a:solidFill>
                  <a:srgbClr val="161616"/>
                </a:solidFill>
                <a:latin typeface="Calibri"/>
                <a:cs typeface="Calibri"/>
              </a:rPr>
              <a:t>Winsorization</a:t>
            </a:r>
            <a:r>
              <a:rPr sz="2050" spc="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1F1F1F"/>
                </a:solidFill>
                <a:latin typeface="Calibri"/>
                <a:cs typeface="Calibri"/>
              </a:rPr>
              <a:t>applied</a:t>
            </a:r>
            <a:r>
              <a:rPr sz="2050" spc="-1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C1C1C"/>
                </a:solidFill>
                <a:latin typeface="Calibri"/>
                <a:cs typeface="Calibri"/>
              </a:rPr>
              <a:t>at</a:t>
            </a:r>
            <a:r>
              <a:rPr sz="205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A1A1A"/>
                </a:solidFill>
                <a:latin typeface="Calibri"/>
                <a:cs typeface="Calibri"/>
              </a:rPr>
              <a:t>1st</a:t>
            </a:r>
            <a:r>
              <a:rPr sz="205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181818"/>
                </a:solidFill>
                <a:latin typeface="Calibri"/>
                <a:cs typeface="Calibri"/>
              </a:rPr>
              <a:t>&amp; </a:t>
            </a:r>
            <a:r>
              <a:rPr sz="2050" dirty="0">
                <a:solidFill>
                  <a:srgbClr val="181818"/>
                </a:solidFill>
                <a:latin typeface="Calibri"/>
                <a:cs typeface="Calibri"/>
              </a:rPr>
              <a:t>99th</a:t>
            </a:r>
            <a:r>
              <a:rPr sz="2050" spc="-1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050" spc="-30" dirty="0">
                <a:solidFill>
                  <a:srgbClr val="1F1F1F"/>
                </a:solidFill>
                <a:latin typeface="Calibri"/>
                <a:cs typeface="Calibri"/>
              </a:rPr>
              <a:t>percentile</a:t>
            </a:r>
            <a:r>
              <a:rPr sz="205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1C1C1C"/>
                </a:solidFill>
                <a:latin typeface="Calibri"/>
                <a:cs typeface="Calibri"/>
              </a:rPr>
              <a:t>for</a:t>
            </a:r>
            <a:r>
              <a:rPr sz="2050" spc="-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A1A1A"/>
                </a:solidFill>
                <a:latin typeface="Calibri"/>
                <a:cs typeface="Calibri"/>
              </a:rPr>
              <a:t>ratio </a:t>
            </a:r>
            <a:r>
              <a:rPr sz="2050" spc="-10" dirty="0">
                <a:solidFill>
                  <a:srgbClr val="181818"/>
                </a:solidFill>
                <a:latin typeface="Calibri"/>
                <a:cs typeface="Calibri"/>
              </a:rPr>
              <a:t>stabilization.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9516" y="5786207"/>
            <a:ext cx="3582670" cy="1794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0640" algn="ctr">
              <a:lnSpc>
                <a:spcPct val="100000"/>
              </a:lnSpc>
              <a:spcBef>
                <a:spcPts val="90"/>
              </a:spcBef>
            </a:pPr>
            <a:r>
              <a:rPr sz="4000" b="1" spc="50" dirty="0">
                <a:solidFill>
                  <a:srgbClr val="0067AC"/>
                </a:solidFill>
                <a:latin typeface="Calibri"/>
                <a:cs typeface="Calibri"/>
              </a:rPr>
              <a:t>Scaling</a:t>
            </a:r>
            <a:endParaRPr sz="4000">
              <a:latin typeface="Calibri"/>
              <a:cs typeface="Calibri"/>
            </a:endParaRPr>
          </a:p>
          <a:p>
            <a:pPr marL="12700" marR="5080" indent="6985" algn="ctr">
              <a:lnSpc>
                <a:spcPts val="2230"/>
              </a:lnSpc>
              <a:spcBef>
                <a:spcPts val="2490"/>
              </a:spcBef>
            </a:pPr>
            <a:r>
              <a:rPr sz="2050" spc="-10" dirty="0">
                <a:solidFill>
                  <a:srgbClr val="1C1C1C"/>
                </a:solidFill>
                <a:latin typeface="Calibri"/>
                <a:cs typeface="Calibri"/>
              </a:rPr>
              <a:t>StandardScaler</a:t>
            </a:r>
            <a:r>
              <a:rPr sz="2050" spc="-1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1C1C1C"/>
                </a:solidFill>
                <a:latin typeface="Calibri"/>
                <a:cs typeface="Calibri"/>
              </a:rPr>
              <a:t>utilized</a:t>
            </a:r>
            <a:r>
              <a:rPr sz="205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181818"/>
                </a:solidFill>
                <a:latin typeface="Calibri"/>
                <a:cs typeface="Calibri"/>
              </a:rPr>
              <a:t>to </a:t>
            </a:r>
            <a:r>
              <a:rPr sz="2050" spc="-40" dirty="0">
                <a:solidFill>
                  <a:srgbClr val="1F1F1F"/>
                </a:solidFill>
                <a:latin typeface="Calibri"/>
                <a:cs typeface="Calibri"/>
              </a:rPr>
              <a:t>normalize</a:t>
            </a:r>
            <a:r>
              <a:rPr sz="2050" spc="-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81818"/>
                </a:solidFill>
                <a:latin typeface="Calibri"/>
                <a:cs typeface="Calibri"/>
              </a:rPr>
              <a:t>varied</a:t>
            </a:r>
            <a:r>
              <a:rPr sz="2050" spc="-1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161616"/>
                </a:solidFill>
                <a:latin typeface="Calibri"/>
                <a:cs typeface="Calibri"/>
              </a:rPr>
              <a:t>feature</a:t>
            </a:r>
            <a:r>
              <a:rPr sz="2050" spc="-9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11111"/>
                </a:solidFill>
                <a:latin typeface="Calibri"/>
                <a:cs typeface="Calibri"/>
              </a:rPr>
              <a:t>units</a:t>
            </a:r>
            <a:r>
              <a:rPr sz="2050" spc="-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212121"/>
                </a:solidFill>
                <a:latin typeface="Calibri"/>
                <a:cs typeface="Calibri"/>
              </a:rPr>
              <a:t>(Rs. </a:t>
            </a:r>
            <a:r>
              <a:rPr sz="2050" dirty="0">
                <a:solidFill>
                  <a:srgbClr val="2A364F"/>
                </a:solidFill>
                <a:latin typeface="Calibri"/>
                <a:cs typeface="Calibri"/>
              </a:rPr>
              <a:t>vs</a:t>
            </a:r>
            <a:r>
              <a:rPr sz="2050" spc="40" dirty="0">
                <a:solidFill>
                  <a:srgbClr val="2A364F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2D2D2D"/>
                </a:solidFill>
                <a:latin typeface="Calibri"/>
                <a:cs typeface="Calibri"/>
              </a:rPr>
              <a:t>%).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94387" y="5835289"/>
            <a:ext cx="3535045" cy="1463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600" spc="45" dirty="0">
                <a:solidFill>
                  <a:srgbClr val="006EAE"/>
                </a:solidFill>
                <a:latin typeface="Calibri"/>
                <a:cs typeface="Calibri"/>
              </a:rPr>
              <a:t>SMOTE</a:t>
            </a:r>
            <a:endParaRPr sz="3600">
              <a:latin typeface="Calibri"/>
              <a:cs typeface="Calibri"/>
            </a:endParaRPr>
          </a:p>
          <a:p>
            <a:pPr marL="12700" marR="5080" algn="ctr">
              <a:lnSpc>
                <a:spcPts val="2230"/>
              </a:lnSpc>
              <a:spcBef>
                <a:spcPts val="2565"/>
              </a:spcBef>
            </a:pPr>
            <a:r>
              <a:rPr sz="2050" spc="-25" dirty="0">
                <a:solidFill>
                  <a:srgbClr val="0C0C0C"/>
                </a:solidFill>
                <a:latin typeface="Calibri"/>
                <a:cs typeface="Calibri"/>
              </a:rPr>
              <a:t>Addressed</a:t>
            </a:r>
            <a:r>
              <a:rPr sz="2050" spc="-7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0C0C0C"/>
                </a:solidFill>
                <a:latin typeface="Calibri"/>
                <a:cs typeface="Calibri"/>
              </a:rPr>
              <a:t>severe</a:t>
            </a:r>
            <a:r>
              <a:rPr sz="2050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C1C1C"/>
                </a:solidFill>
                <a:latin typeface="Calibri"/>
                <a:cs typeface="Calibri"/>
              </a:rPr>
              <a:t>class</a:t>
            </a:r>
            <a:r>
              <a:rPr sz="2050" spc="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spc="-40" dirty="0">
                <a:solidFill>
                  <a:srgbClr val="181818"/>
                </a:solidFill>
                <a:latin typeface="Calibri"/>
                <a:cs typeface="Calibri"/>
              </a:rPr>
              <a:t>imbalance </a:t>
            </a:r>
            <a:r>
              <a:rPr sz="2050" dirty="0">
                <a:solidFill>
                  <a:srgbClr val="161616"/>
                </a:solidFill>
                <a:latin typeface="Calibri"/>
                <a:cs typeface="Calibri"/>
              </a:rPr>
              <a:t>(93.8%</a:t>
            </a:r>
            <a:r>
              <a:rPr sz="2050" spc="-8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1A1A1A"/>
                </a:solidFill>
                <a:latin typeface="Calibri"/>
                <a:cs typeface="Calibri"/>
              </a:rPr>
              <a:t>majority</a:t>
            </a:r>
            <a:r>
              <a:rPr sz="205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A1A1A"/>
                </a:solidFill>
                <a:latin typeface="Calibri"/>
                <a:cs typeface="Calibri"/>
              </a:rPr>
              <a:t>class</a:t>
            </a:r>
            <a:r>
              <a:rPr sz="205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81818"/>
                </a:solidFill>
                <a:latin typeface="Calibri"/>
                <a:cs typeface="Calibri"/>
              </a:rPr>
              <a:t>bias).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541" y="1080853"/>
            <a:ext cx="7556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00" spc="-1135" dirty="0">
                <a:solidFill>
                  <a:srgbClr val="036B97"/>
                </a:solidFill>
                <a:latin typeface="Calibri"/>
                <a:cs typeface="Calibri"/>
              </a:rPr>
              <a:t>I</a:t>
            </a:r>
            <a:endParaRPr sz="5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sz="5800" spc="-25" dirty="0">
                <a:solidFill>
                  <a:srgbClr val="03699E"/>
                </a:solidFill>
              </a:rPr>
              <a:t>Methodology</a:t>
            </a:r>
            <a:r>
              <a:rPr sz="5800" spc="-270" dirty="0">
                <a:solidFill>
                  <a:srgbClr val="03699E"/>
                </a:solidFill>
              </a:rPr>
              <a:t> </a:t>
            </a:r>
            <a:r>
              <a:rPr sz="5800" spc="75" dirty="0">
                <a:solidFill>
                  <a:srgbClr val="07679A"/>
                </a:solidFill>
              </a:rPr>
              <a:t>&amp;</a:t>
            </a:r>
            <a:r>
              <a:rPr sz="5800" spc="-605" dirty="0">
                <a:solidFill>
                  <a:srgbClr val="07679A"/>
                </a:solidFill>
              </a:rPr>
              <a:t> </a:t>
            </a:r>
            <a:r>
              <a:rPr sz="5800" spc="60" dirty="0">
                <a:solidFill>
                  <a:srgbClr val="056997"/>
                </a:solidFill>
              </a:rPr>
              <a:t>Algorithms</a:t>
            </a:r>
            <a:endParaRPr sz="5800"/>
          </a:p>
        </p:txBody>
      </p:sp>
      <p:sp>
        <p:nvSpPr>
          <p:cNvPr id="4" name="object 4"/>
          <p:cNvSpPr txBox="1"/>
          <p:nvPr/>
        </p:nvSpPr>
        <p:spPr>
          <a:xfrm>
            <a:off x="1336088" y="4656006"/>
            <a:ext cx="7102475" cy="31261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114" dirty="0">
                <a:solidFill>
                  <a:srgbClr val="0169A1"/>
                </a:solidFill>
                <a:latin typeface="Calibri"/>
                <a:cs typeface="Calibri"/>
              </a:rPr>
              <a:t>Experimental</a:t>
            </a:r>
            <a:r>
              <a:rPr sz="3850" spc="140" dirty="0">
                <a:solidFill>
                  <a:srgbClr val="0169A1"/>
                </a:solidFill>
                <a:latin typeface="Calibri"/>
                <a:cs typeface="Calibri"/>
              </a:rPr>
              <a:t> </a:t>
            </a:r>
            <a:r>
              <a:rPr sz="3850" spc="90" dirty="0">
                <a:solidFill>
                  <a:srgbClr val="1579AE"/>
                </a:solidFill>
                <a:latin typeface="Calibri"/>
                <a:cs typeface="Calibri"/>
              </a:rPr>
              <a:t>Setup</a:t>
            </a:r>
            <a:endParaRPr sz="3850">
              <a:latin typeface="Calibri"/>
              <a:cs typeface="Calibri"/>
            </a:endParaRPr>
          </a:p>
          <a:p>
            <a:pPr marL="577215">
              <a:lnSpc>
                <a:spcPct val="100000"/>
              </a:lnSpc>
              <a:spcBef>
                <a:spcPts val="2365"/>
              </a:spcBef>
            </a:pPr>
            <a:r>
              <a:rPr sz="2550" spc="-30" dirty="0">
                <a:solidFill>
                  <a:srgbClr val="1D1D1D"/>
                </a:solidFill>
                <a:latin typeface="Calibri"/>
                <a:cs typeface="Calibri"/>
              </a:rPr>
              <a:t>Train/Test</a:t>
            </a:r>
            <a:r>
              <a:rPr sz="2550" spc="-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Split:</a:t>
            </a:r>
            <a:r>
              <a:rPr sz="2550" spc="-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80/20</a:t>
            </a:r>
            <a:r>
              <a:rPr sz="255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D1D"/>
                </a:solidFill>
                <a:latin typeface="Calibri"/>
                <a:cs typeface="Calibri"/>
              </a:rPr>
              <a:t>stratified</a:t>
            </a:r>
            <a:r>
              <a:rPr sz="2550" spc="-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61616"/>
                </a:solidFill>
                <a:latin typeface="Calibri"/>
                <a:cs typeface="Calibri"/>
              </a:rPr>
              <a:t>split.</a:t>
            </a:r>
            <a:endParaRPr sz="2550">
              <a:latin typeface="Calibri"/>
              <a:cs typeface="Calibri"/>
            </a:endParaRPr>
          </a:p>
          <a:p>
            <a:pPr marL="571500" marR="378460" indent="3810">
              <a:lnSpc>
                <a:spcPts val="2840"/>
              </a:lnSpc>
              <a:spcBef>
                <a:spcPts val="1550"/>
              </a:spcBef>
            </a:pPr>
            <a:r>
              <a:rPr sz="2700" spc="-35" dirty="0">
                <a:solidFill>
                  <a:srgbClr val="1C1C1C"/>
                </a:solidFill>
                <a:latin typeface="Calibri"/>
                <a:cs typeface="Calibri"/>
              </a:rPr>
              <a:t>SMOTE:</a:t>
            </a:r>
            <a:r>
              <a:rPr sz="2700" spc="-1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212121"/>
                </a:solidFill>
                <a:latin typeface="Calibri"/>
                <a:cs typeface="Calibri"/>
              </a:rPr>
              <a:t>Applied</a:t>
            </a:r>
            <a:r>
              <a:rPr sz="2700" spc="-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2700" spc="-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1C1C1C"/>
                </a:solidFill>
                <a:latin typeface="Calibri"/>
                <a:cs typeface="Calibri"/>
              </a:rPr>
              <a:t>training</a:t>
            </a:r>
            <a:r>
              <a:rPr sz="270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700" spc="-110" dirty="0">
                <a:solidFill>
                  <a:srgbClr val="1A1A1A"/>
                </a:solidFill>
                <a:latin typeface="Calibri"/>
                <a:cs typeface="Calibri"/>
              </a:rPr>
              <a:t>set </a:t>
            </a:r>
            <a:r>
              <a:rPr sz="2700" spc="-10" dirty="0">
                <a:solidFill>
                  <a:srgbClr val="1F1F1F"/>
                </a:solidFill>
                <a:latin typeface="Calibri"/>
                <a:cs typeface="Calibri"/>
              </a:rPr>
              <a:t>only</a:t>
            </a:r>
            <a:r>
              <a:rPr sz="27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700" spc="-105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2700" spc="-1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181818"/>
                </a:solidFill>
                <a:latin typeface="Calibri"/>
                <a:cs typeface="Calibri"/>
              </a:rPr>
              <a:t>prevent </a:t>
            </a:r>
            <a:r>
              <a:rPr sz="2700" spc="-50" dirty="0">
                <a:solidFill>
                  <a:srgbClr val="1C1C1C"/>
                </a:solidFill>
                <a:latin typeface="Calibri"/>
                <a:cs typeface="Calibri"/>
              </a:rPr>
              <a:t>data</a:t>
            </a:r>
            <a:r>
              <a:rPr sz="2700" spc="-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1A1A1A"/>
                </a:solidFill>
                <a:latin typeface="Calibri"/>
                <a:cs typeface="Calibri"/>
              </a:rPr>
              <a:t>leakage.</a:t>
            </a:r>
            <a:endParaRPr sz="2700">
              <a:latin typeface="Calibri"/>
              <a:cs typeface="Calibri"/>
            </a:endParaRPr>
          </a:p>
          <a:p>
            <a:pPr marL="579120" marR="5080" indent="-5080">
              <a:lnSpc>
                <a:spcPts val="2840"/>
              </a:lnSpc>
              <a:spcBef>
                <a:spcPts val="1490"/>
              </a:spcBef>
            </a:pPr>
            <a:r>
              <a:rPr sz="2550" dirty="0">
                <a:solidFill>
                  <a:srgbClr val="131313"/>
                </a:solidFill>
                <a:latin typeface="Calibri"/>
                <a:cs typeface="Calibri"/>
              </a:rPr>
              <a:t>Validation:</a:t>
            </a:r>
            <a:r>
              <a:rPr sz="2550" spc="-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181818"/>
                </a:solidFill>
                <a:latin typeface="Calibri"/>
                <a:cs typeface="Calibri"/>
              </a:rPr>
              <a:t>ROC-</a:t>
            </a:r>
            <a:r>
              <a:rPr sz="2550" spc="85" dirty="0">
                <a:solidFill>
                  <a:srgbClr val="181818"/>
                </a:solidFill>
                <a:latin typeface="Calibri"/>
                <a:cs typeface="Calibri"/>
              </a:rPr>
              <a:t>AUC</a:t>
            </a:r>
            <a:r>
              <a:rPr sz="2550" spc="16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255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Confusion</a:t>
            </a:r>
            <a:r>
              <a:rPr sz="2550" spc="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Matrices</a:t>
            </a:r>
            <a:r>
              <a:rPr sz="255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181818"/>
                </a:solidFill>
                <a:latin typeface="Calibri"/>
                <a:cs typeface="Calibri"/>
              </a:rPr>
              <a:t>for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minority</a:t>
            </a:r>
            <a:r>
              <a:rPr sz="2550" spc="3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11111"/>
                </a:solidFill>
                <a:latin typeface="Calibri"/>
                <a:cs typeface="Calibri"/>
              </a:rPr>
              <a:t>class</a:t>
            </a:r>
            <a:r>
              <a:rPr sz="2550" spc="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51515"/>
                </a:solidFill>
                <a:latin typeface="Calibri"/>
                <a:cs typeface="Calibri"/>
              </a:rPr>
              <a:t>tracking.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4792" y="4530355"/>
            <a:ext cx="4224655" cy="1351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50" dirty="0">
                <a:solidFill>
                  <a:srgbClr val="0070A3"/>
                </a:solidFill>
                <a:latin typeface="Calibri"/>
                <a:cs typeface="Calibri"/>
              </a:rPr>
              <a:t>Models</a:t>
            </a:r>
            <a:r>
              <a:rPr sz="3850" spc="-155" dirty="0">
                <a:solidFill>
                  <a:srgbClr val="0070A3"/>
                </a:solidFill>
                <a:latin typeface="Calibri"/>
                <a:cs typeface="Calibri"/>
              </a:rPr>
              <a:t> </a:t>
            </a:r>
            <a:r>
              <a:rPr sz="3850" spc="120" dirty="0">
                <a:solidFill>
                  <a:srgbClr val="0C6EAA"/>
                </a:solidFill>
                <a:latin typeface="Calibri"/>
                <a:cs typeface="Calibri"/>
              </a:rPr>
              <a:t>Evaluated</a:t>
            </a:r>
            <a:endParaRPr sz="385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2740"/>
              </a:spcBef>
            </a:pPr>
            <a:r>
              <a:rPr sz="2550" spc="-20" dirty="0">
                <a:solidFill>
                  <a:srgbClr val="232323"/>
                </a:solidFill>
                <a:latin typeface="Calibri"/>
                <a:cs typeface="Calibri"/>
              </a:rPr>
              <a:t>1.</a:t>
            </a:r>
            <a:r>
              <a:rPr sz="2550" spc="-20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1818"/>
                </a:solidFill>
                <a:latin typeface="Calibri"/>
                <a:cs typeface="Calibri"/>
              </a:rPr>
              <a:t>Logistic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Regression</a:t>
            </a:r>
            <a:r>
              <a:rPr sz="2550" spc="1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61616"/>
                </a:solidFill>
                <a:latin typeface="Calibri"/>
                <a:cs typeface="Calibri"/>
              </a:rPr>
              <a:t>(Baseline)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9941" y="6123238"/>
            <a:ext cx="378206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2.</a:t>
            </a:r>
            <a:r>
              <a:rPr sz="2550" spc="-204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Decision</a:t>
            </a:r>
            <a:r>
              <a:rPr sz="2550" spc="1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45" dirty="0">
                <a:solidFill>
                  <a:srgbClr val="212121"/>
                </a:solidFill>
                <a:latin typeface="Calibri"/>
                <a:cs typeface="Calibri"/>
              </a:rPr>
              <a:t>Tree</a:t>
            </a:r>
            <a:r>
              <a:rPr sz="2550" spc="-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(Non-linear)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1699" y="6782904"/>
            <a:ext cx="385445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3.</a:t>
            </a:r>
            <a:r>
              <a:rPr sz="2550" spc="-2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Random</a:t>
            </a:r>
            <a:r>
              <a:rPr sz="255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Forest</a:t>
            </a:r>
            <a:r>
              <a:rPr sz="2550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(Ensemble)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2634" y="7442570"/>
            <a:ext cx="43084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16314F"/>
                </a:solidFill>
                <a:latin typeface="Calibri"/>
                <a:cs typeface="Calibri"/>
              </a:rPr>
              <a:t>4.</a:t>
            </a:r>
            <a:r>
              <a:rPr sz="2550" spc="-235" dirty="0">
                <a:solidFill>
                  <a:srgbClr val="16314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Gradient</a:t>
            </a:r>
            <a:r>
              <a:rPr sz="2550" spc="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Boosting</a:t>
            </a:r>
            <a:r>
              <a:rPr sz="255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(Advanced)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628161"/>
            <a:ext cx="20088393" cy="83243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6673" y="4646927"/>
          <a:ext cx="18210528" cy="340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755">
                <a:tc>
                  <a:txBody>
                    <a:bodyPr/>
                    <a:lstStyle/>
                    <a:p>
                      <a:pPr marL="235585">
                        <a:lnSpc>
                          <a:spcPts val="2690"/>
                        </a:lnSpc>
                      </a:pPr>
                      <a:r>
                        <a:rPr sz="255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sz="2550" spc="-8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5194">
                        <a:lnSpc>
                          <a:spcPts val="2690"/>
                        </a:lnSpc>
                      </a:pP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2550" spc="1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2550" spc="8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(No</a:t>
                      </a:r>
                      <a:r>
                        <a:rPr sz="2550" spc="155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SMOTE)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0" algn="r">
                        <a:lnSpc>
                          <a:spcPts val="2670"/>
                        </a:lnSpc>
                      </a:pPr>
                      <a:r>
                        <a:rPr sz="2450" spc="65" dirty="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0.9265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2690"/>
                        </a:lnSpc>
                      </a:pPr>
                      <a:r>
                        <a:rPr sz="2550" spc="-305" dirty="0">
                          <a:solidFill>
                            <a:srgbClr val="ED4646"/>
                          </a:solidFill>
                          <a:latin typeface="Courier New"/>
                          <a:cs typeface="Courier New"/>
                        </a:rPr>
                        <a:t>0.0000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7435">
                        <a:lnSpc>
                          <a:spcPts val="2690"/>
                        </a:lnSpc>
                      </a:pPr>
                      <a:r>
                        <a:rPr sz="255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0.8438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sz="2550" spc="-8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26364" marB="0"/>
                </a:tc>
                <a:tc>
                  <a:txBody>
                    <a:bodyPr/>
                    <a:lstStyle/>
                    <a:p>
                      <a:pPr marL="9296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5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SMOTE</a:t>
                      </a:r>
                      <a:r>
                        <a:rPr sz="2550" spc="8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26364" marB="0"/>
                </a:tc>
                <a:tc>
                  <a:txBody>
                    <a:bodyPr/>
                    <a:lstStyle/>
                    <a:p>
                      <a:pPr marR="74739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0.8824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26364" marB="0"/>
                </a:tc>
                <a:tc>
                  <a:txBody>
                    <a:bodyPr/>
                    <a:lstStyle/>
                    <a:p>
                      <a:pPr marL="77533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5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26364" marB="0"/>
                </a:tc>
                <a:tc>
                  <a:txBody>
                    <a:bodyPr/>
                    <a:lstStyle/>
                    <a:p>
                      <a:pPr marL="106743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50" spc="-10" dirty="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0.7422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2636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55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Logistic</a:t>
                      </a:r>
                      <a:r>
                        <a:rPr sz="2550" spc="125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Regression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8115" marB="0"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964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550" spc="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SMOTE/</a:t>
                      </a:r>
                      <a:r>
                        <a:rPr sz="25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Balanced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8115" marB="0"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7395" algn="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0.7794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8115" marB="0"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533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550" spc="-10" dirty="0">
                          <a:solidFill>
                            <a:srgbClr val="181818"/>
                          </a:solidFill>
                          <a:latin typeface="Times New Roman"/>
                          <a:cs typeface="Times New Roman"/>
                        </a:rPr>
                        <a:t>0.2500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743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5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0.7695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8115" marB="0"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25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550" spc="13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28575">
                      <a:solidFill>
                        <a:srgbClr val="0C6497"/>
                      </a:solidFill>
                      <a:prstDash val="solid"/>
                    </a:lnL>
                    <a:lnT w="28575">
                      <a:solidFill>
                        <a:srgbClr val="0C6497"/>
                      </a:solidFill>
                      <a:prstDash val="solid"/>
                    </a:lnT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138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2550" spc="10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SMOTE/</a:t>
                      </a:r>
                      <a:r>
                        <a:rPr sz="2550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Balanced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T w="28575">
                      <a:solidFill>
                        <a:srgbClr val="0C6497"/>
                      </a:solidFill>
                      <a:prstDash val="solid"/>
                    </a:lnT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2475" algn="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2550" spc="-50" dirty="0">
                          <a:solidFill>
                            <a:srgbClr val="181818"/>
                          </a:solidFill>
                          <a:latin typeface="Consolas"/>
                          <a:cs typeface="Consolas"/>
                        </a:rPr>
                        <a:t>0.8529</a:t>
                      </a:r>
                      <a:endParaRPr sz="2550">
                        <a:latin typeface="Consolas"/>
                        <a:cs typeface="Consolas"/>
                      </a:endParaRPr>
                    </a:p>
                  </a:txBody>
                  <a:tcPr marL="0" marR="0" marT="167005" marB="0">
                    <a:lnT w="28575">
                      <a:solidFill>
                        <a:srgbClr val="0C6497"/>
                      </a:solidFill>
                      <a:prstDash val="solid"/>
                    </a:lnT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533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2550" spc="-10" dirty="0">
                          <a:solidFill>
                            <a:srgbClr val="0FB69C"/>
                          </a:solidFill>
                          <a:latin typeface="Calibri"/>
                          <a:cs typeface="Calibri"/>
                        </a:rPr>
                        <a:t>0.7500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T w="28575">
                      <a:solidFill>
                        <a:srgbClr val="0C6497"/>
                      </a:solidFill>
                      <a:prstDash val="solid"/>
                    </a:lnT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743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2550" spc="-1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0.81ó4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R w="28575">
                      <a:solidFill>
                        <a:srgbClr val="0C6497"/>
                      </a:solidFill>
                      <a:prstDash val="solid"/>
                    </a:lnR>
                    <a:lnT w="28575">
                      <a:solidFill>
                        <a:srgbClr val="0C6497"/>
                      </a:solidFill>
                      <a:prstDash val="solid"/>
                    </a:lnT>
                    <a:lnB w="28575">
                      <a:solidFill>
                        <a:srgbClr val="0C649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55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sz="2550" spc="55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Boosting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T w="28575">
                      <a:solidFill>
                        <a:srgbClr val="0C649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964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SMOTE</a:t>
                      </a:r>
                      <a:r>
                        <a:rPr sz="2550" spc="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Applied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T w="28575">
                      <a:solidFill>
                        <a:srgbClr val="0C649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42950" algn="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450" spc="65" dirty="0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0.9265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56210" marB="0">
                    <a:lnT w="28575">
                      <a:solidFill>
                        <a:srgbClr val="0C649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533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550" spc="-10" dirty="0">
                          <a:solidFill>
                            <a:srgbClr val="E2484B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T w="28575">
                      <a:solidFill>
                        <a:srgbClr val="0C649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6743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550" spc="-1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0.4023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T w="28575">
                      <a:solidFill>
                        <a:srgbClr val="0C649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0750" y="1129935"/>
            <a:ext cx="7620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019" dirty="0">
                <a:solidFill>
                  <a:srgbClr val="086797"/>
                </a:solidFill>
                <a:latin typeface="Calibri"/>
                <a:cs typeface="Calibri"/>
              </a:rPr>
              <a:t>I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957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sz="5400" spc="260" dirty="0"/>
              <a:t>Robustness:</a:t>
            </a:r>
            <a:r>
              <a:rPr sz="5400" spc="70" dirty="0"/>
              <a:t> </a:t>
            </a:r>
            <a:r>
              <a:rPr sz="5400" spc="240" dirty="0">
                <a:solidFill>
                  <a:srgbClr val="08679C"/>
                </a:solidFill>
              </a:rPr>
              <a:t>Results</a:t>
            </a:r>
            <a:r>
              <a:rPr sz="5400" spc="85" dirty="0">
                <a:solidFill>
                  <a:srgbClr val="08679C"/>
                </a:solidFill>
              </a:rPr>
              <a:t> </a:t>
            </a:r>
            <a:r>
              <a:rPr sz="5400" spc="180" dirty="0">
                <a:solidFill>
                  <a:srgbClr val="016B9A"/>
                </a:solidFill>
              </a:rPr>
              <a:t>With</a:t>
            </a:r>
            <a:r>
              <a:rPr sz="5400" spc="-290" dirty="0">
                <a:solidFill>
                  <a:srgbClr val="016B9A"/>
                </a:solidFill>
              </a:rPr>
              <a:t> </a:t>
            </a:r>
            <a:r>
              <a:rPr sz="5400" spc="130" dirty="0">
                <a:solidFill>
                  <a:srgbClr val="0767A1"/>
                </a:solidFill>
              </a:rPr>
              <a:t>vs.</a:t>
            </a:r>
            <a:r>
              <a:rPr sz="5400" spc="490" dirty="0">
                <a:solidFill>
                  <a:srgbClr val="0767A1"/>
                </a:solidFill>
              </a:rPr>
              <a:t> </a:t>
            </a:r>
            <a:r>
              <a:rPr sz="5400" spc="120" dirty="0">
                <a:solidFill>
                  <a:srgbClr val="0E649A"/>
                </a:solidFill>
              </a:rPr>
              <a:t>Without</a:t>
            </a:r>
            <a:r>
              <a:rPr sz="5400" spc="15" dirty="0">
                <a:solidFill>
                  <a:srgbClr val="0E649A"/>
                </a:solidFill>
              </a:rPr>
              <a:t> </a:t>
            </a:r>
            <a:r>
              <a:rPr sz="5400" spc="-10" dirty="0">
                <a:solidFill>
                  <a:srgbClr val="006B9C"/>
                </a:solidFill>
              </a:rPr>
              <a:t>SMOTE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942674" y="8528925"/>
            <a:ext cx="179031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i="1" dirty="0">
                <a:solidFill>
                  <a:srgbClr val="1C1C1C"/>
                </a:solidFill>
                <a:latin typeface="Calibri"/>
                <a:cs typeface="Calibri"/>
              </a:rPr>
              <a:t>Insight:</a:t>
            </a:r>
            <a:r>
              <a:rPr sz="2050" i="1" spc="2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i="1" spc="-10" dirty="0">
                <a:solidFill>
                  <a:srgbClr val="212121"/>
                </a:solidFill>
                <a:latin typeface="Calibri"/>
                <a:cs typeface="Calibri"/>
              </a:rPr>
              <a:t>”No</a:t>
            </a:r>
            <a:r>
              <a:rPr sz="2050" i="1" spc="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F1F1F"/>
                </a:solidFill>
                <a:latin typeface="Calibri"/>
                <a:cs typeface="Calibri"/>
              </a:rPr>
              <a:t>SMOTE”modeIs</a:t>
            </a:r>
            <a:r>
              <a:rPr sz="2050" i="1" spc="2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i="1" spc="60" dirty="0">
                <a:solidFill>
                  <a:srgbClr val="4D5D80"/>
                </a:solidFill>
                <a:latin typeface="Calibri"/>
                <a:cs typeface="Calibri"/>
              </a:rPr>
              <a:t>show</a:t>
            </a:r>
            <a:r>
              <a:rPr sz="2050" i="1" spc="-90" dirty="0">
                <a:solidFill>
                  <a:srgbClr val="4D5D80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232323"/>
                </a:solidFill>
                <a:latin typeface="Calibri"/>
                <a:cs typeface="Calibri"/>
              </a:rPr>
              <a:t>high</a:t>
            </a:r>
            <a:r>
              <a:rPr sz="2050" i="1" spc="-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D1D1D"/>
                </a:solidFill>
                <a:latin typeface="Calibri"/>
                <a:cs typeface="Calibri"/>
              </a:rPr>
              <a:t>accuracy</a:t>
            </a:r>
            <a:r>
              <a:rPr sz="2050" i="1" spc="8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050" i="1" spc="60" dirty="0">
                <a:solidFill>
                  <a:srgbClr val="262626"/>
                </a:solidFill>
                <a:latin typeface="Calibri"/>
                <a:cs typeface="Calibri"/>
              </a:rPr>
              <a:t>but</a:t>
            </a:r>
            <a:r>
              <a:rPr sz="2050" i="1" spc="3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50" i="1" spc="-85" dirty="0">
                <a:solidFill>
                  <a:srgbClr val="161616"/>
                </a:solidFill>
                <a:latin typeface="Calibri"/>
                <a:cs typeface="Calibri"/>
              </a:rPr>
              <a:t>fail</a:t>
            </a:r>
            <a:r>
              <a:rPr sz="2050" i="1" spc="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sz="2050" i="1" spc="-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61616"/>
                </a:solidFill>
                <a:latin typeface="Calibri"/>
                <a:cs typeface="Calibri"/>
              </a:rPr>
              <a:t>predict</a:t>
            </a:r>
            <a:r>
              <a:rPr sz="2050" i="1" spc="-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i="1" spc="65" dirty="0">
                <a:solidFill>
                  <a:srgbClr val="111111"/>
                </a:solidFill>
                <a:latin typeface="Calibri"/>
                <a:cs typeface="Calibri"/>
              </a:rPr>
              <a:t>any</a:t>
            </a:r>
            <a:r>
              <a:rPr sz="2050" i="1" spc="-8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81818"/>
                </a:solidFill>
                <a:latin typeface="Calibri"/>
                <a:cs typeface="Calibri"/>
              </a:rPr>
              <a:t>exclusions</a:t>
            </a:r>
            <a:r>
              <a:rPr sz="2050" i="1" spc="2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A1A1A"/>
                </a:solidFill>
                <a:latin typeface="Calibri"/>
                <a:cs typeface="Calibri"/>
              </a:rPr>
              <a:t>(Recall</a:t>
            </a:r>
            <a:r>
              <a:rPr sz="2050" i="1" spc="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i="1" spc="-1045" dirty="0">
                <a:solidFill>
                  <a:srgbClr val="1F1F1F"/>
                </a:solidFill>
                <a:latin typeface="Calibri"/>
                <a:cs typeface="Calibri"/>
              </a:rPr>
              <a:t>—</a:t>
            </a:r>
            <a:r>
              <a:rPr sz="2050" i="1" spc="-350" dirty="0">
                <a:solidFill>
                  <a:srgbClr val="1F1F1F"/>
                </a:solidFill>
                <a:latin typeface="Calibri"/>
                <a:cs typeface="Calibri"/>
              </a:rPr>
              <a:t>-</a:t>
            </a:r>
            <a:r>
              <a:rPr sz="2050" i="1" spc="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i="1" spc="-10" dirty="0">
                <a:solidFill>
                  <a:srgbClr val="212121"/>
                </a:solidFill>
                <a:latin typeface="Calibri"/>
                <a:cs typeface="Calibri"/>
              </a:rPr>
              <a:t>0).</a:t>
            </a:r>
            <a:r>
              <a:rPr sz="2050" i="1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C1C1C"/>
                </a:solidFill>
                <a:latin typeface="Calibri"/>
                <a:cs typeface="Calibri"/>
              </a:rPr>
              <a:t>Decision</a:t>
            </a:r>
            <a:r>
              <a:rPr sz="2050" i="1" spc="1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i="1" spc="-25" dirty="0">
                <a:solidFill>
                  <a:srgbClr val="181818"/>
                </a:solidFill>
                <a:latin typeface="Calibri"/>
                <a:cs typeface="Calibri"/>
              </a:rPr>
              <a:t>Tree</a:t>
            </a:r>
            <a:r>
              <a:rPr sz="2050" i="1" spc="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2B315B"/>
                </a:solidFill>
                <a:latin typeface="Calibri"/>
                <a:cs typeface="Calibri"/>
              </a:rPr>
              <a:t>with</a:t>
            </a:r>
            <a:r>
              <a:rPr sz="2050" i="1" spc="5" dirty="0">
                <a:solidFill>
                  <a:srgbClr val="2B315B"/>
                </a:solidFill>
                <a:latin typeface="Calibri"/>
                <a:cs typeface="Calibri"/>
              </a:rPr>
              <a:t> </a:t>
            </a:r>
            <a:r>
              <a:rPr sz="2050" i="1" spc="75" dirty="0">
                <a:solidFill>
                  <a:srgbClr val="161616"/>
                </a:solidFill>
                <a:latin typeface="Calibri"/>
                <a:cs typeface="Calibri"/>
              </a:rPr>
              <a:t>SMOTEsuccessfully</a:t>
            </a:r>
            <a:r>
              <a:rPr sz="2050" i="1" spc="-229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F1F1F"/>
                </a:solidFill>
                <a:latin typeface="Calibri"/>
                <a:cs typeface="Calibri"/>
              </a:rPr>
              <a:t>identifies</a:t>
            </a:r>
            <a:r>
              <a:rPr sz="2050" i="1" spc="10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50" i="1" spc="100" dirty="0">
                <a:solidFill>
                  <a:srgbClr val="282828"/>
                </a:solidFill>
                <a:latin typeface="Calibri"/>
                <a:cs typeface="Calibri"/>
              </a:rPr>
              <a:t>75%</a:t>
            </a:r>
            <a:r>
              <a:rPr sz="2050" i="1" spc="-3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050" i="1" spc="6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2050" i="1" spc="-11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50" i="1" dirty="0">
                <a:solidFill>
                  <a:srgbClr val="1C1C1C"/>
                </a:solidFill>
                <a:latin typeface="Calibri"/>
                <a:cs typeface="Calibri"/>
              </a:rPr>
              <a:t>exclusion</a:t>
            </a:r>
            <a:r>
              <a:rPr sz="2050" i="1" spc="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050" i="1" spc="-10" dirty="0">
                <a:solidFill>
                  <a:srgbClr val="1D1D1D"/>
                </a:solidFill>
                <a:latin typeface="Calibri"/>
                <a:cs typeface="Calibri"/>
              </a:rPr>
              <a:t>cases.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973700"/>
            <a:ext cx="20088393" cy="8324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3493" y="1113574"/>
            <a:ext cx="69215" cy="869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0" spc="-975" dirty="0">
                <a:solidFill>
                  <a:srgbClr val="056997"/>
                </a:solidFill>
                <a:latin typeface="Calibri"/>
                <a:cs typeface="Calibri"/>
              </a:rPr>
              <a:t>i</a:t>
            </a:r>
            <a:endParaRPr sz="5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sz="5500" spc="270" dirty="0">
                <a:solidFill>
                  <a:srgbClr val="006DA3"/>
                </a:solidFill>
              </a:rPr>
              <a:t>Final</a:t>
            </a:r>
            <a:r>
              <a:rPr sz="5500" spc="-500" dirty="0">
                <a:solidFill>
                  <a:srgbClr val="006DA3"/>
                </a:solidFill>
              </a:rPr>
              <a:t> </a:t>
            </a:r>
            <a:r>
              <a:rPr sz="8250" baseline="-3535" dirty="0">
                <a:solidFill>
                  <a:srgbClr val="03699E"/>
                </a:solidFill>
              </a:rPr>
              <a:t>Model</a:t>
            </a:r>
            <a:r>
              <a:rPr sz="8250" spc="-330" baseline="-3535" dirty="0">
                <a:solidFill>
                  <a:srgbClr val="03699E"/>
                </a:solidFill>
              </a:rPr>
              <a:t> </a:t>
            </a:r>
            <a:r>
              <a:rPr sz="5500" spc="204" dirty="0"/>
              <a:t>Performance</a:t>
            </a:r>
            <a:r>
              <a:rPr sz="5500" spc="60" dirty="0"/>
              <a:t> </a:t>
            </a:r>
            <a:r>
              <a:rPr sz="8250" spc="419" baseline="-3535" dirty="0">
                <a:solidFill>
                  <a:srgbClr val="08679C"/>
                </a:solidFill>
              </a:rPr>
              <a:t>Comparison</a:t>
            </a:r>
            <a:endParaRPr sz="8250" baseline="-3535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18744" y="4977887"/>
          <a:ext cx="16338549" cy="263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7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0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9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6105">
                <a:tc>
                  <a:txBody>
                    <a:bodyPr/>
                    <a:lstStyle/>
                    <a:p>
                      <a:pPr marL="39370">
                        <a:lnSpc>
                          <a:spcPts val="2805"/>
                        </a:lnSpc>
                      </a:pPr>
                      <a:r>
                        <a:rPr sz="25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Logistic</a:t>
                      </a:r>
                      <a:r>
                        <a:rPr sz="2550" spc="1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Regression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6619" algn="r">
                        <a:lnSpc>
                          <a:spcPts val="2805"/>
                        </a:lnSpc>
                      </a:pPr>
                      <a:r>
                        <a:rPr sz="2550" spc="-1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0.7794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0.0769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5160" algn="r">
                        <a:lnSpc>
                          <a:spcPts val="2805"/>
                        </a:lnSpc>
                      </a:pPr>
                      <a:r>
                        <a:rPr sz="2550" spc="-10" dirty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0.2500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ts val="2805"/>
                        </a:lnSpc>
                      </a:pPr>
                      <a:r>
                        <a:rPr sz="25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0.1176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2805"/>
                        </a:lnSpc>
                      </a:pPr>
                      <a:r>
                        <a:rPr sz="2550" spc="-1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0.7695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2550" spc="80" dirty="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45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r>
                        <a:rPr sz="2550" spc="-3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282828"/>
                          </a:solidFill>
                          <a:latin typeface="Calibri"/>
                          <a:cs typeface="Calibri"/>
                        </a:rPr>
                        <a:t>(Best)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R="902335" algn="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50" dirty="0">
                          <a:solidFill>
                            <a:srgbClr val="1A1A1A"/>
                          </a:solidFill>
                          <a:latin typeface="Consolas"/>
                          <a:cs typeface="Consolas"/>
                        </a:rPr>
                        <a:t>0.8529</a:t>
                      </a:r>
                      <a:endParaRPr sz="2550">
                        <a:latin typeface="Consolas"/>
                        <a:cs typeface="Consolas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50" dirty="0">
                          <a:solidFill>
                            <a:srgbClr val="181818"/>
                          </a:solidFill>
                          <a:latin typeface="Consolas"/>
                          <a:cs typeface="Consolas"/>
                        </a:rPr>
                        <a:t>0.2500</a:t>
                      </a:r>
                      <a:endParaRPr sz="2550">
                        <a:latin typeface="Consolas"/>
                        <a:cs typeface="Consolas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R="643890" algn="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0.7500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10" dirty="0">
                          <a:solidFill>
                            <a:srgbClr val="0C2344"/>
                          </a:solidFill>
                          <a:latin typeface="Calibri"/>
                          <a:cs typeface="Calibri"/>
                        </a:rPr>
                        <a:t>0.3750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550" spc="-10" dirty="0">
                          <a:solidFill>
                            <a:srgbClr val="161616"/>
                          </a:solidFill>
                          <a:latin typeface="Calibri"/>
                          <a:cs typeface="Calibri"/>
                        </a:rPr>
                        <a:t>0.8164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sz="2550" spc="-8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3350" marB="0"/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2450" spc="6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0.8824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T="1460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550" spc="-1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3350" marB="0"/>
                </a:tc>
                <a:tc>
                  <a:txBody>
                    <a:bodyPr/>
                    <a:lstStyle/>
                    <a:p>
                      <a:pPr marR="643890" algn="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550" spc="-10" dirty="0">
                          <a:solidFill>
                            <a:srgbClr val="111111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3350" marB="0"/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550" spc="-10" dirty="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3335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2450" spc="50" dirty="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0.7422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T="1460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5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sz="2550" spc="5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Boosting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0495" marB="0"/>
                </a:tc>
                <a:tc>
                  <a:txBody>
                    <a:bodyPr/>
                    <a:lstStyle/>
                    <a:p>
                      <a:pPr marR="892810" algn="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450" spc="65" dirty="0">
                          <a:solidFill>
                            <a:srgbClr val="131313"/>
                          </a:solidFill>
                          <a:latin typeface="Times New Roman"/>
                          <a:cs typeface="Times New Roman"/>
                        </a:rPr>
                        <a:t>0.9265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550" spc="-10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0495" marB="0"/>
                </a:tc>
                <a:tc>
                  <a:txBody>
                    <a:bodyPr/>
                    <a:lstStyle/>
                    <a:p>
                      <a:pPr marR="643890" algn="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550" spc="-10" dirty="0">
                          <a:solidFill>
                            <a:srgbClr val="0F0F0F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0495" marB="0"/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5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0.0000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049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5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0.4023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504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25757" y="8070823"/>
            <a:ext cx="1140396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067A5"/>
                </a:solidFill>
                <a:latin typeface="Calibri"/>
                <a:cs typeface="Calibri"/>
              </a:rPr>
              <a:t>Decision</a:t>
            </a:r>
            <a:r>
              <a:rPr sz="2550" spc="55" dirty="0">
                <a:solidFill>
                  <a:srgbClr val="0067A5"/>
                </a:solidFill>
                <a:latin typeface="Calibri"/>
                <a:cs typeface="Calibri"/>
              </a:rPr>
              <a:t> </a:t>
            </a:r>
            <a:r>
              <a:rPr sz="2550" spc="-40" dirty="0">
                <a:solidFill>
                  <a:srgbClr val="006BA8"/>
                </a:solidFill>
                <a:latin typeface="Calibri"/>
                <a:cs typeface="Calibri"/>
              </a:rPr>
              <a:t>Tree</a:t>
            </a:r>
            <a:r>
              <a:rPr sz="2550" spc="-80" dirty="0">
                <a:solidFill>
                  <a:srgbClr val="006BA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06B9A"/>
                </a:solidFill>
                <a:latin typeface="Calibri"/>
                <a:cs typeface="Calibri"/>
              </a:rPr>
              <a:t>outperformed</a:t>
            </a:r>
            <a:r>
              <a:rPr sz="2550" spc="90" dirty="0">
                <a:solidFill>
                  <a:srgbClr val="006B9A"/>
                </a:solidFill>
                <a:latin typeface="Calibri"/>
                <a:cs typeface="Calibri"/>
              </a:rPr>
              <a:t> </a:t>
            </a:r>
            <a:r>
              <a:rPr sz="2550" spc="-30" dirty="0">
                <a:solidFill>
                  <a:srgbClr val="086990"/>
                </a:solidFill>
                <a:latin typeface="Calibri"/>
                <a:cs typeface="Calibri"/>
              </a:rPr>
              <a:t>ensemble</a:t>
            </a:r>
            <a:r>
              <a:rPr sz="2550" spc="75" dirty="0">
                <a:solidFill>
                  <a:srgbClr val="08699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16B97"/>
                </a:solidFill>
                <a:latin typeface="Calibri"/>
                <a:cs typeface="Calibri"/>
              </a:rPr>
              <a:t>models</a:t>
            </a:r>
            <a:r>
              <a:rPr sz="2550" spc="-55" dirty="0">
                <a:solidFill>
                  <a:srgbClr val="016B97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006BA3"/>
                </a:solidFill>
                <a:latin typeface="Calibri"/>
                <a:cs typeface="Calibri"/>
              </a:rPr>
              <a:t>in</a:t>
            </a:r>
            <a:r>
              <a:rPr sz="2550" spc="-150" dirty="0">
                <a:solidFill>
                  <a:srgbClr val="006BA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070AE"/>
                </a:solidFill>
                <a:latin typeface="Calibri"/>
                <a:cs typeface="Calibri"/>
              </a:rPr>
              <a:t>identifying</a:t>
            </a:r>
            <a:r>
              <a:rPr sz="2550" spc="180" dirty="0">
                <a:solidFill>
                  <a:srgbClr val="0070AE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085991"/>
                </a:solidFill>
                <a:latin typeface="Calibri"/>
                <a:cs typeface="Calibri"/>
              </a:rPr>
              <a:t>the</a:t>
            </a:r>
            <a:r>
              <a:rPr sz="2550" spc="-85" dirty="0">
                <a:solidFill>
                  <a:srgbClr val="08599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870AA"/>
                </a:solidFill>
                <a:latin typeface="Calibri"/>
                <a:cs typeface="Calibri"/>
              </a:rPr>
              <a:t>critical</a:t>
            </a:r>
            <a:r>
              <a:rPr sz="2550" spc="-35" dirty="0">
                <a:solidFill>
                  <a:srgbClr val="0870A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5649C"/>
                </a:solidFill>
                <a:latin typeface="Calibri"/>
                <a:cs typeface="Calibri"/>
              </a:rPr>
              <a:t>minority</a:t>
            </a:r>
            <a:r>
              <a:rPr sz="2550" spc="55" dirty="0">
                <a:solidFill>
                  <a:srgbClr val="05649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070AC"/>
                </a:solidFill>
                <a:latin typeface="Calibri"/>
                <a:cs typeface="Calibri"/>
              </a:rPr>
              <a:t>class.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370" y="1113574"/>
            <a:ext cx="64769" cy="869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0" spc="-969" dirty="0">
                <a:solidFill>
                  <a:srgbClr val="036B97"/>
                </a:solidFill>
                <a:latin typeface="Arial MT"/>
                <a:cs typeface="Arial MT"/>
              </a:rPr>
              <a:t>i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40"/>
              </a:spcBef>
            </a:pPr>
            <a:r>
              <a:rPr sz="5500" spc="-25" dirty="0">
                <a:solidFill>
                  <a:srgbClr val="01699C"/>
                </a:solidFill>
                <a:latin typeface="Arial MT"/>
                <a:cs typeface="Arial MT"/>
              </a:rPr>
              <a:t>Answering</a:t>
            </a:r>
            <a:r>
              <a:rPr sz="5500" spc="-285" dirty="0">
                <a:solidFill>
                  <a:srgbClr val="01699C"/>
                </a:solidFill>
                <a:latin typeface="Arial MT"/>
                <a:cs typeface="Arial MT"/>
              </a:rPr>
              <a:t> </a:t>
            </a:r>
            <a:r>
              <a:rPr sz="5500" spc="-150" dirty="0">
                <a:solidFill>
                  <a:srgbClr val="0C62AA"/>
                </a:solidFill>
                <a:latin typeface="Arial MT"/>
                <a:cs typeface="Arial MT"/>
              </a:rPr>
              <a:t>Research</a:t>
            </a:r>
            <a:r>
              <a:rPr sz="5500" spc="-229" dirty="0">
                <a:solidFill>
                  <a:srgbClr val="0C62AA"/>
                </a:solidFill>
                <a:latin typeface="Arial MT"/>
                <a:cs typeface="Arial MT"/>
              </a:rPr>
              <a:t> </a:t>
            </a:r>
            <a:r>
              <a:rPr sz="5500" spc="40" dirty="0">
                <a:solidFill>
                  <a:srgbClr val="006BA3"/>
                </a:solidFill>
                <a:latin typeface="Arial MT"/>
                <a:cs typeface="Arial MT"/>
              </a:rPr>
              <a:t>questions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0078" y="3311805"/>
            <a:ext cx="5441950" cy="1021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181818"/>
                </a:solidFill>
                <a:latin typeface="Calibri"/>
                <a:cs typeface="Calibri"/>
              </a:rPr>
              <a:t>Q1:</a:t>
            </a:r>
            <a:r>
              <a:rPr sz="2550" spc="-1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113159"/>
                </a:solidFill>
                <a:latin typeface="Calibri"/>
                <a:cs typeface="Calibri"/>
              </a:rPr>
              <a:t>Can</a:t>
            </a:r>
            <a:r>
              <a:rPr sz="2550" spc="-140" dirty="0">
                <a:solidFill>
                  <a:srgbClr val="113159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242424"/>
                </a:solidFill>
                <a:latin typeface="Calibri"/>
                <a:cs typeface="Calibri"/>
              </a:rPr>
              <a:t>ML</a:t>
            </a:r>
            <a:r>
              <a:rPr sz="255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predict</a:t>
            </a:r>
            <a:r>
              <a:rPr sz="2550" spc="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D1D"/>
                </a:solidFill>
                <a:latin typeface="Calibri"/>
                <a:cs typeface="Calibri"/>
              </a:rPr>
              <a:t>Index</a:t>
            </a:r>
            <a:r>
              <a:rPr sz="2550" spc="-1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Exclusion?</a:t>
            </a:r>
            <a:endParaRPr sz="25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2115"/>
              </a:spcBef>
            </a:pPr>
            <a:r>
              <a:rPr sz="2200" spc="60" dirty="0">
                <a:solidFill>
                  <a:srgbClr val="289CD8"/>
                </a:solidFill>
                <a:latin typeface="Calibri"/>
                <a:cs typeface="Calibri"/>
              </a:rPr>
              <a:t>YES.</a:t>
            </a:r>
            <a:r>
              <a:rPr sz="2200" spc="-90" dirty="0">
                <a:solidFill>
                  <a:srgbClr val="289CD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8A5C8"/>
                </a:solidFill>
                <a:latin typeface="Calibri"/>
                <a:cs typeface="Calibri"/>
              </a:rPr>
              <a:t>Best</a:t>
            </a:r>
            <a:r>
              <a:rPr sz="2200" spc="-95" dirty="0">
                <a:solidFill>
                  <a:srgbClr val="18A5C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CA7E8"/>
                </a:solidFill>
                <a:latin typeface="Calibri"/>
                <a:cs typeface="Calibri"/>
              </a:rPr>
              <a:t>ROC-AUC</a:t>
            </a:r>
            <a:r>
              <a:rPr sz="2200" spc="325" dirty="0">
                <a:solidFill>
                  <a:srgbClr val="1CA7E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497CF"/>
                </a:solidFill>
                <a:latin typeface="Calibri"/>
                <a:cs typeface="Calibri"/>
              </a:rPr>
              <a:t>=</a:t>
            </a:r>
            <a:r>
              <a:rPr sz="2200" spc="-60" dirty="0">
                <a:solidFill>
                  <a:srgbClr val="3497C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19EDD"/>
                </a:solidFill>
                <a:latin typeface="Calibri"/>
                <a:cs typeface="Calibri"/>
              </a:rPr>
              <a:t>0.816</a:t>
            </a:r>
            <a:r>
              <a:rPr sz="2200" dirty="0">
                <a:solidFill>
                  <a:srgbClr val="77CCF0"/>
                </a:solidFill>
                <a:latin typeface="Calibri"/>
                <a:cs typeface="Calibri"/>
              </a:rPr>
              <a:t>|</a:t>
            </a:r>
            <a:r>
              <a:rPr sz="2200" dirty="0">
                <a:solidFill>
                  <a:srgbClr val="2B9EE2"/>
                </a:solidFill>
                <a:latin typeface="Calibri"/>
                <a:cs typeface="Calibri"/>
              </a:rPr>
              <a:t>Best</a:t>
            </a:r>
            <a:r>
              <a:rPr sz="2200" spc="-95" dirty="0">
                <a:solidFill>
                  <a:srgbClr val="2B9EE2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3A1EB"/>
                </a:solidFill>
                <a:latin typeface="Calibri"/>
                <a:cs typeface="Calibri"/>
              </a:rPr>
              <a:t>Recall</a:t>
            </a:r>
            <a:r>
              <a:rPr sz="2200" spc="-30" dirty="0">
                <a:solidFill>
                  <a:srgbClr val="13A1E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497CF"/>
                </a:solidFill>
                <a:latin typeface="Calibri"/>
                <a:cs typeface="Calibri"/>
              </a:rPr>
              <a:t>=</a:t>
            </a:r>
            <a:r>
              <a:rPr sz="2200" spc="-60" dirty="0">
                <a:solidFill>
                  <a:srgbClr val="3497C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19EDD"/>
                </a:solidFill>
                <a:latin typeface="Calibri"/>
                <a:cs typeface="Calibri"/>
              </a:rPr>
              <a:t>0.750.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1660" y="5904658"/>
            <a:ext cx="8291195" cy="9918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181818"/>
                </a:solidFill>
                <a:latin typeface="Calibri"/>
                <a:cs typeface="Calibri"/>
              </a:rPr>
              <a:t>Q2:</a:t>
            </a:r>
            <a:r>
              <a:rPr sz="2300" spc="4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12121"/>
                </a:solidFill>
                <a:latin typeface="Calibri"/>
                <a:cs typeface="Calibri"/>
              </a:rPr>
              <a:t>Key</a:t>
            </a:r>
            <a:r>
              <a:rPr sz="2300" spc="40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2300" spc="75" dirty="0">
                <a:solidFill>
                  <a:srgbClr val="0F0F0F"/>
                </a:solidFill>
                <a:latin typeface="Calibri"/>
                <a:cs typeface="Calibri"/>
              </a:rPr>
              <a:t>determinants?</a:t>
            </a:r>
            <a:endParaRPr sz="23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2065"/>
              </a:spcBef>
            </a:pPr>
            <a:r>
              <a:rPr sz="2300" spc="-175" dirty="0">
                <a:solidFill>
                  <a:srgbClr val="212121"/>
                </a:solidFill>
                <a:latin typeface="Calibri"/>
                <a:cs typeface="Calibri"/>
              </a:rPr>
              <a:t>Top</a:t>
            </a:r>
            <a:r>
              <a:rPr sz="2300" spc="-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A1A1A"/>
                </a:solidFill>
                <a:latin typeface="Calibri"/>
                <a:cs typeface="Calibri"/>
              </a:rPr>
              <a:t>indicators</a:t>
            </a:r>
            <a:r>
              <a:rPr sz="2300" spc="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F1F1F"/>
                </a:solidFill>
                <a:latin typeface="Calibri"/>
                <a:cs typeface="Calibri"/>
              </a:rPr>
              <a:t>are</a:t>
            </a:r>
            <a:r>
              <a:rPr sz="2300" spc="-20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95" dirty="0">
                <a:solidFill>
                  <a:srgbClr val="1C1C1C"/>
                </a:solidFill>
                <a:latin typeface="Calibri"/>
                <a:cs typeface="Calibri"/>
              </a:rPr>
              <a:t>Operating</a:t>
            </a:r>
            <a:r>
              <a:rPr sz="23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81818"/>
                </a:solidFill>
                <a:latin typeface="Calibri"/>
                <a:cs typeface="Calibri"/>
              </a:rPr>
              <a:t>Cash</a:t>
            </a:r>
            <a:r>
              <a:rPr sz="2300" spc="-7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75" dirty="0">
                <a:solidFill>
                  <a:srgbClr val="0F0F0F"/>
                </a:solidFill>
                <a:latin typeface="Calibri"/>
                <a:cs typeface="Calibri"/>
              </a:rPr>
              <a:t>FIow,TradingVoIume,</a:t>
            </a:r>
            <a:r>
              <a:rPr sz="2300" spc="-75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2300" spc="-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A1A1A"/>
                </a:solidFill>
                <a:latin typeface="Calibri"/>
                <a:cs typeface="Calibri"/>
              </a:rPr>
              <a:t>Stock</a:t>
            </a:r>
            <a:r>
              <a:rPr sz="23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61616"/>
                </a:solidFill>
                <a:latin typeface="Calibri"/>
                <a:cs typeface="Calibri"/>
              </a:rPr>
              <a:t>Volatility.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9017" y="8464790"/>
            <a:ext cx="9284335" cy="9918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  <a:tabLst>
                <a:tab pos="569595" algn="l"/>
              </a:tabLst>
            </a:pPr>
            <a:r>
              <a:rPr sz="2300" spc="-25" dirty="0">
                <a:solidFill>
                  <a:srgbClr val="212121"/>
                </a:solidFill>
                <a:latin typeface="Calibri"/>
                <a:cs typeface="Calibri"/>
              </a:rPr>
              <a:t>Q3:</a:t>
            </a:r>
            <a:r>
              <a:rPr sz="230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2300" spc="125" dirty="0">
                <a:solidFill>
                  <a:srgbClr val="1F1F1F"/>
                </a:solidFill>
                <a:latin typeface="Calibri"/>
                <a:cs typeface="Calibri"/>
              </a:rPr>
              <a:t>Best</a:t>
            </a:r>
            <a:r>
              <a:rPr sz="2300" spc="-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181818"/>
                </a:solidFill>
                <a:latin typeface="Calibri"/>
                <a:cs typeface="Calibri"/>
              </a:rPr>
              <a:t>model?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2300" spc="-85" dirty="0">
                <a:solidFill>
                  <a:srgbClr val="1A1A1A"/>
                </a:solidFill>
                <a:latin typeface="Calibri"/>
                <a:cs typeface="Calibri"/>
              </a:rPr>
              <a:t>Decision</a:t>
            </a:r>
            <a:r>
              <a:rPr sz="2300" spc="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40" dirty="0">
                <a:solidFill>
                  <a:srgbClr val="161616"/>
                </a:solidFill>
                <a:latin typeface="Calibri"/>
                <a:cs typeface="Calibri"/>
              </a:rPr>
              <a:t>Tree</a:t>
            </a:r>
            <a:r>
              <a:rPr sz="2300" spc="-16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90" dirty="0">
                <a:solidFill>
                  <a:srgbClr val="161616"/>
                </a:solidFill>
                <a:latin typeface="Calibri"/>
                <a:cs typeface="Calibri"/>
              </a:rPr>
              <a:t>for</a:t>
            </a:r>
            <a:r>
              <a:rPr sz="2300" spc="-1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70" dirty="0">
                <a:solidFill>
                  <a:srgbClr val="0C0C0C"/>
                </a:solidFill>
                <a:latin typeface="Calibri"/>
                <a:cs typeface="Calibri"/>
              </a:rPr>
              <a:t>high-</a:t>
            </a:r>
            <a:r>
              <a:rPr sz="2300" spc="-65" dirty="0">
                <a:solidFill>
                  <a:srgbClr val="0C0C0C"/>
                </a:solidFill>
                <a:latin typeface="Calibri"/>
                <a:cs typeface="Calibri"/>
              </a:rPr>
              <a:t>sensitivity</a:t>
            </a:r>
            <a:r>
              <a:rPr sz="2300" spc="-2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300" spc="-105" dirty="0">
                <a:solidFill>
                  <a:srgbClr val="111111"/>
                </a:solidFill>
                <a:latin typeface="Calibri"/>
                <a:cs typeface="Calibri"/>
              </a:rPr>
              <a:t>early</a:t>
            </a:r>
            <a:r>
              <a:rPr sz="2300" spc="-1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300" spc="-125" dirty="0">
                <a:solidFill>
                  <a:srgbClr val="1F1F1F"/>
                </a:solidFill>
                <a:latin typeface="Calibri"/>
                <a:cs typeface="Calibri"/>
              </a:rPr>
              <a:t>warning;</a:t>
            </a:r>
            <a:r>
              <a:rPr sz="2300" spc="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80" dirty="0">
                <a:solidFill>
                  <a:srgbClr val="161616"/>
                </a:solidFill>
                <a:latin typeface="Calibri"/>
                <a:cs typeface="Calibri"/>
              </a:rPr>
              <a:t>Logistic</a:t>
            </a:r>
            <a:r>
              <a:rPr sz="2300" spc="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110" dirty="0">
                <a:solidFill>
                  <a:srgbClr val="181818"/>
                </a:solidFill>
                <a:latin typeface="Calibri"/>
                <a:cs typeface="Calibri"/>
              </a:rPr>
              <a:t>Regression</a:t>
            </a:r>
            <a:r>
              <a:rPr sz="2300" spc="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90" dirty="0">
                <a:solidFill>
                  <a:srgbClr val="161616"/>
                </a:solidFill>
                <a:latin typeface="Calibri"/>
                <a:cs typeface="Calibri"/>
              </a:rPr>
              <a:t>for</a:t>
            </a:r>
            <a:r>
              <a:rPr sz="2300" spc="-114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11111"/>
                </a:solidFill>
                <a:latin typeface="Calibri"/>
                <a:cs typeface="Calibri"/>
              </a:rPr>
              <a:t>interpretation.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9508" y="2387361"/>
            <a:ext cx="16782211" cy="5026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10318" y="3062733"/>
            <a:ext cx="11897995" cy="526415"/>
          </a:xfrm>
          <a:prstGeom prst="rect">
            <a:avLst/>
          </a:prstGeom>
          <a:solidFill>
            <a:srgbClr val="EBF4F9"/>
          </a:solidFill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  <a:tabLst>
                <a:tab pos="499745" algn="l"/>
              </a:tabLst>
            </a:pPr>
            <a:r>
              <a:rPr sz="1900" spc="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80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00" dirty="0">
                <a:solidFill>
                  <a:srgbClr val="A0CDDF"/>
                </a:solidFill>
                <a:latin typeface="Calibri"/>
                <a:cs typeface="Calibri"/>
              </a:rPr>
              <a:t>p</a:t>
            </a:r>
            <a:r>
              <a:rPr sz="1900" spc="515" dirty="0">
                <a:solidFill>
                  <a:srgbClr val="A0CDDF"/>
                </a:solidFill>
                <a:latin typeface="Calibri"/>
                <a:cs typeface="Calibri"/>
              </a:rPr>
              <a:t> </a:t>
            </a:r>
            <a:r>
              <a:rPr sz="1900" spc="1040" dirty="0">
                <a:solidFill>
                  <a:srgbClr val="FFFFFF"/>
                </a:solidFill>
                <a:latin typeface="Calibri"/>
                <a:cs typeface="Calibri"/>
              </a:rPr>
              <a:t>ic</a:t>
            </a:r>
            <a:r>
              <a:rPr sz="1900" spc="1040" dirty="0">
                <a:solidFill>
                  <a:srgbClr val="3FA3A1"/>
                </a:solidFill>
                <a:latin typeface="Calibri"/>
                <a:cs typeface="Calibri"/>
              </a:rPr>
              <a:t>Sc</a:t>
            </a:r>
            <a:r>
              <a:rPr sz="1900" spc="-114" dirty="0">
                <a:solidFill>
                  <a:srgbClr val="3FA3A1"/>
                </a:solidFill>
                <a:latin typeface="Calibri"/>
                <a:cs typeface="Calibri"/>
              </a:rPr>
              <a:t> </a:t>
            </a:r>
            <a:r>
              <a:rPr sz="1900" spc="-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620" dirty="0">
                <a:solidFill>
                  <a:srgbClr val="1F90A0"/>
                </a:solidFill>
                <a:latin typeface="Calibri"/>
                <a:cs typeface="Calibri"/>
              </a:rPr>
              <a:t>e</a:t>
            </a:r>
            <a:r>
              <a:rPr sz="1900" spc="275" dirty="0">
                <a:solidFill>
                  <a:srgbClr val="1F90A0"/>
                </a:solidFill>
                <a:latin typeface="Calibri"/>
                <a:cs typeface="Calibri"/>
              </a:rPr>
              <a:t> </a:t>
            </a:r>
            <a:r>
              <a:rPr sz="1900" spc="85" dirty="0">
                <a:solidFill>
                  <a:srgbClr val="2B8293"/>
                </a:solidFill>
                <a:latin typeface="Calibri"/>
                <a:cs typeface="Calibri"/>
              </a:rPr>
              <a:t>0</a:t>
            </a:r>
            <a:r>
              <a:rPr sz="1900" spc="-95" dirty="0">
                <a:solidFill>
                  <a:srgbClr val="2B8293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1798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7433" y="3849093"/>
            <a:ext cx="2813685" cy="1702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58545" algn="l"/>
                <a:tab pos="1906270" algn="l"/>
              </a:tabLst>
            </a:pPr>
            <a:r>
              <a:rPr sz="1900" spc="-45" dirty="0">
                <a:solidFill>
                  <a:srgbClr val="DFFBFF"/>
                </a:solidFill>
                <a:latin typeface="Arial MT"/>
                <a:cs typeface="Arial MT"/>
              </a:rPr>
              <a:t>00</a:t>
            </a:r>
            <a:r>
              <a:rPr sz="1900" spc="-4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00" spc="-45" dirty="0">
                <a:solidFill>
                  <a:srgbClr val="DFFBFF"/>
                </a:solidFill>
                <a:latin typeface="Arial MT"/>
                <a:cs typeface="Arial MT"/>
              </a:rPr>
              <a:t>s</a:t>
            </a:r>
            <a:r>
              <a:rPr sz="1900" spc="65" dirty="0">
                <a:solidFill>
                  <a:srgbClr val="DFFBFF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95C4DB"/>
                </a:solidFill>
                <a:latin typeface="Arial MT"/>
                <a:cs typeface="Arial MT"/>
              </a:rPr>
              <a:t>p</a:t>
            </a:r>
            <a:r>
              <a:rPr sz="1900" dirty="0">
                <a:solidFill>
                  <a:srgbClr val="95C4DB"/>
                </a:solidFill>
                <a:latin typeface="Arial MT"/>
                <a:cs typeface="Arial MT"/>
              </a:rPr>
              <a:t>	</a:t>
            </a:r>
            <a:r>
              <a:rPr sz="1900" spc="-135" dirty="0">
                <a:solidFill>
                  <a:srgbClr val="3483A8"/>
                </a:solidFill>
                <a:latin typeface="Arial MT"/>
                <a:cs typeface="Arial MT"/>
              </a:rPr>
              <a:t>nce</a:t>
            </a:r>
            <a:r>
              <a:rPr sz="1900" spc="-145" dirty="0">
                <a:solidFill>
                  <a:srgbClr val="3483A8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3F90A7"/>
                </a:solidFill>
                <a:latin typeface="Arial MT"/>
                <a:cs typeface="Arial MT"/>
              </a:rPr>
              <a:t>Sc</a:t>
            </a:r>
            <a:r>
              <a:rPr sz="1900" dirty="0">
                <a:solidFill>
                  <a:srgbClr val="3F90A7"/>
                </a:solidFill>
                <a:latin typeface="Arial MT"/>
                <a:cs typeface="Arial MT"/>
              </a:rPr>
              <a:t>	</a:t>
            </a:r>
            <a:r>
              <a:rPr sz="1900" dirty="0">
                <a:solidFill>
                  <a:srgbClr val="3479B1"/>
                </a:solidFill>
                <a:latin typeface="Arial MT"/>
                <a:cs typeface="Arial MT"/>
              </a:rPr>
              <a:t>e</a:t>
            </a:r>
            <a:r>
              <a:rPr sz="1900" spc="130" dirty="0">
                <a:solidFill>
                  <a:srgbClr val="3479B1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33758E"/>
                </a:solidFill>
                <a:latin typeface="Arial MT"/>
                <a:cs typeface="Arial MT"/>
              </a:rPr>
              <a:t>0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900" spc="-120" dirty="0">
                <a:solidFill>
                  <a:srgbClr val="8EBFEB"/>
                </a:solidFill>
                <a:latin typeface="Arial MT"/>
                <a:cs typeface="Arial MT"/>
              </a:rPr>
              <a:t>Score:</a:t>
            </a:r>
            <a:r>
              <a:rPr sz="1900" spc="-25" dirty="0">
                <a:solidFill>
                  <a:srgbClr val="8EBFEB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F6D7C"/>
                </a:solidFill>
                <a:latin typeface="Arial MT"/>
                <a:cs typeface="Arial MT"/>
              </a:rPr>
              <a:t>0.0956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tabLst>
                <a:tab pos="923290" algn="l"/>
              </a:tabLst>
            </a:pPr>
            <a:r>
              <a:rPr sz="1900" spc="-25" dirty="0">
                <a:solidFill>
                  <a:srgbClr val="2A909E"/>
                </a:solidFill>
                <a:latin typeface="Arial MT"/>
                <a:cs typeface="Arial MT"/>
              </a:rPr>
              <a:t>po</a:t>
            </a:r>
            <a:r>
              <a:rPr sz="1900" dirty="0">
                <a:solidFill>
                  <a:srgbClr val="2A909E"/>
                </a:solidFill>
                <a:latin typeface="Arial MT"/>
                <a:cs typeface="Arial MT"/>
              </a:rPr>
              <a:t>	</a:t>
            </a:r>
            <a:r>
              <a:rPr sz="1900" spc="-80" dirty="0">
                <a:solidFill>
                  <a:srgbClr val="217580"/>
                </a:solidFill>
                <a:latin typeface="Arial MT"/>
                <a:cs typeface="Arial MT"/>
              </a:rPr>
              <a:t>Sco</a:t>
            </a:r>
            <a:r>
              <a:rPr sz="1900" spc="85" dirty="0">
                <a:solidFill>
                  <a:srgbClr val="217580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8ABAEB"/>
                </a:solidFill>
                <a:latin typeface="Arial MT"/>
                <a:cs typeface="Arial MT"/>
              </a:rPr>
              <a:t>e:</a:t>
            </a:r>
            <a:r>
              <a:rPr sz="1900" spc="-160" dirty="0">
                <a:solidFill>
                  <a:srgbClr val="8ABAEB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E4FFFF"/>
                </a:solidFill>
                <a:latin typeface="Arial MT"/>
                <a:cs typeface="Arial MT"/>
              </a:rPr>
              <a:t>0</a:t>
            </a:r>
            <a:r>
              <a:rPr sz="1900" spc="-254" dirty="0">
                <a:solidFill>
                  <a:srgbClr val="E4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E4FFFF"/>
                </a:solidFill>
                <a:latin typeface="Arial MT"/>
                <a:cs typeface="Arial MT"/>
              </a:rPr>
              <a:t>07</a:t>
            </a:r>
            <a:r>
              <a:rPr sz="1900" spc="330" dirty="0">
                <a:solidFill>
                  <a:srgbClr val="E4FFF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2D7E9E"/>
                </a:solidFill>
                <a:latin typeface="Arial MT"/>
                <a:cs typeface="Arial MT"/>
              </a:rPr>
              <a:t>5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112" y="1080853"/>
            <a:ext cx="69850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00" spc="-1035" dirty="0">
                <a:solidFill>
                  <a:srgbClr val="056997"/>
                </a:solidFill>
                <a:latin typeface="Calibri"/>
                <a:cs typeface="Calibri"/>
              </a:rPr>
              <a:t>i</a:t>
            </a:r>
            <a:endParaRPr sz="58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sz="5800" dirty="0">
                <a:solidFill>
                  <a:srgbClr val="006DA3"/>
                </a:solidFill>
              </a:rPr>
              <a:t>Determinants</a:t>
            </a:r>
            <a:r>
              <a:rPr sz="5800" spc="484" dirty="0">
                <a:solidFill>
                  <a:srgbClr val="006DA3"/>
                </a:solidFill>
              </a:rPr>
              <a:t> </a:t>
            </a:r>
            <a:r>
              <a:rPr sz="5800" spc="-175" dirty="0">
                <a:solidFill>
                  <a:srgbClr val="0A699C"/>
                </a:solidFill>
              </a:rPr>
              <a:t>of</a:t>
            </a:r>
            <a:r>
              <a:rPr sz="5800" spc="-95" dirty="0">
                <a:solidFill>
                  <a:srgbClr val="0A699C"/>
                </a:solidFill>
              </a:rPr>
              <a:t> </a:t>
            </a:r>
            <a:r>
              <a:rPr sz="5800" spc="80" dirty="0">
                <a:solidFill>
                  <a:srgbClr val="0167AF"/>
                </a:solidFill>
              </a:rPr>
              <a:t>Exclusion</a:t>
            </a:r>
            <a:endParaRPr sz="5800"/>
          </a:p>
        </p:txBody>
      </p:sp>
      <p:sp>
        <p:nvSpPr>
          <p:cNvPr id="7" name="object 7"/>
          <p:cNvSpPr txBox="1"/>
          <p:nvPr/>
        </p:nvSpPr>
        <p:spPr>
          <a:xfrm>
            <a:off x="2953757" y="3140999"/>
            <a:ext cx="175768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0" dirty="0">
                <a:latin typeface="Calibri"/>
                <a:cs typeface="Calibri"/>
              </a:rPr>
              <a:t>Trading</a:t>
            </a:r>
            <a:r>
              <a:rPr sz="2200" spc="-135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Volume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1124" y="3832078"/>
            <a:ext cx="169735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Stock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Volatility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1024" y="4523156"/>
            <a:ext cx="181991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50" dirty="0">
                <a:latin typeface="Calibri"/>
                <a:cs typeface="Calibri"/>
              </a:rPr>
              <a:t>EBIT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Margin</a:t>
            </a:r>
            <a:r>
              <a:rPr sz="2200" spc="-180" dirty="0">
                <a:latin typeface="Calibri"/>
                <a:cs typeface="Calibri"/>
              </a:rPr>
              <a:t> </a:t>
            </a:r>
            <a:r>
              <a:rPr sz="2200" spc="-130" dirty="0">
                <a:latin typeface="Calibri"/>
                <a:cs typeface="Calibri"/>
              </a:rPr>
              <a:t>(9¢)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9165" y="5214234"/>
            <a:ext cx="969644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0" dirty="0">
                <a:latin typeface="Calibri"/>
                <a:cs typeface="Calibri"/>
              </a:rPr>
              <a:t>ROA(9¢)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2708" y="6878451"/>
            <a:ext cx="122586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212121"/>
                </a:solidFill>
                <a:latin typeface="Calibri"/>
                <a:cs typeface="Calibri"/>
              </a:rPr>
              <a:t>Finding:</a:t>
            </a:r>
            <a:r>
              <a:rPr sz="23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1A1A1A"/>
                </a:solidFill>
                <a:latin typeface="Calibri"/>
                <a:cs typeface="Calibri"/>
              </a:rPr>
              <a:t>Market</a:t>
            </a:r>
            <a:r>
              <a:rPr sz="23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81818"/>
                </a:solidFill>
                <a:latin typeface="Calibri"/>
                <a:cs typeface="Calibri"/>
              </a:rPr>
              <a:t>sentiment(Volatility)</a:t>
            </a:r>
            <a:r>
              <a:rPr sz="2300" spc="-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sz="2300" spc="-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1A1A1A"/>
                </a:solidFill>
                <a:latin typeface="Calibri"/>
                <a:cs typeface="Calibri"/>
              </a:rPr>
              <a:t>internal</a:t>
            </a:r>
            <a:r>
              <a:rPr sz="2300" spc="-1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151515"/>
                </a:solidFill>
                <a:latin typeface="Calibri"/>
                <a:cs typeface="Calibri"/>
              </a:rPr>
              <a:t>liquidity</a:t>
            </a:r>
            <a:r>
              <a:rPr sz="2300" spc="7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1C1C1C"/>
                </a:solidFill>
                <a:latin typeface="Calibri"/>
                <a:cs typeface="Calibri"/>
              </a:rPr>
              <a:t>(OCF)</a:t>
            </a:r>
            <a:r>
              <a:rPr sz="2300" spc="-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F1F1F"/>
                </a:solidFill>
                <a:latin typeface="Calibri"/>
                <a:cs typeface="Calibri"/>
              </a:rPr>
              <a:t>are</a:t>
            </a:r>
            <a:r>
              <a:rPr sz="2300" spc="-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85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2300" spc="-1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12121"/>
                </a:solidFill>
                <a:latin typeface="Calibri"/>
                <a:cs typeface="Calibri"/>
              </a:rPr>
              <a:t>primary</a:t>
            </a:r>
            <a:r>
              <a:rPr sz="2300" spc="-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1A1A1A"/>
                </a:solidFill>
                <a:latin typeface="Calibri"/>
                <a:cs typeface="Calibri"/>
              </a:rPr>
              <a:t>drivers</a:t>
            </a:r>
            <a:r>
              <a:rPr sz="2300" spc="-1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6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2300" spc="-5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60" dirty="0">
                <a:solidFill>
                  <a:srgbClr val="181818"/>
                </a:solidFill>
                <a:latin typeface="Calibri"/>
                <a:cs typeface="Calibri"/>
              </a:rPr>
              <a:t>index</a:t>
            </a:r>
            <a:r>
              <a:rPr sz="23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C1C1C"/>
                </a:solidFill>
                <a:latin typeface="Calibri"/>
                <a:cs typeface="Calibri"/>
              </a:rPr>
              <a:t>stability.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942379"/>
            <a:ext cx="125650" cy="895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125"/>
              </a:spcBef>
            </a:pPr>
            <a:r>
              <a:rPr sz="5900" spc="90" dirty="0">
                <a:solidFill>
                  <a:srgbClr val="006DA3"/>
                </a:solidFill>
              </a:rPr>
              <a:t>Findings</a:t>
            </a:r>
            <a:r>
              <a:rPr sz="5900" spc="-15" dirty="0">
                <a:solidFill>
                  <a:srgbClr val="006DA3"/>
                </a:solidFill>
              </a:rPr>
              <a:t> </a:t>
            </a:r>
            <a:r>
              <a:rPr sz="5900" dirty="0">
                <a:solidFill>
                  <a:srgbClr val="07679C"/>
                </a:solidFill>
              </a:rPr>
              <a:t>&amp;</a:t>
            </a:r>
            <a:r>
              <a:rPr sz="5900" spc="-755" dirty="0">
                <a:solidFill>
                  <a:srgbClr val="07679C"/>
                </a:solidFill>
              </a:rPr>
              <a:t> </a:t>
            </a:r>
            <a:r>
              <a:rPr sz="5900" spc="55" dirty="0">
                <a:solidFill>
                  <a:srgbClr val="006BA5"/>
                </a:solidFill>
              </a:rPr>
              <a:t>Implications</a:t>
            </a:r>
            <a:endParaRPr sz="5900"/>
          </a:p>
        </p:txBody>
      </p:sp>
      <p:sp>
        <p:nvSpPr>
          <p:cNvPr id="4" name="object 4"/>
          <p:cNvSpPr txBox="1"/>
          <p:nvPr/>
        </p:nvSpPr>
        <p:spPr>
          <a:xfrm>
            <a:off x="1320382" y="2724127"/>
            <a:ext cx="8055609" cy="15494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125" dirty="0">
                <a:solidFill>
                  <a:srgbClr val="0069A8"/>
                </a:solidFill>
                <a:latin typeface="Calibri"/>
                <a:cs typeface="Calibri"/>
              </a:rPr>
              <a:t>Investors</a:t>
            </a:r>
            <a:endParaRPr sz="3850">
              <a:latin typeface="Calibri"/>
              <a:cs typeface="Calibri"/>
            </a:endParaRPr>
          </a:p>
          <a:p>
            <a:pPr marL="23495" marR="5080" indent="5080">
              <a:lnSpc>
                <a:spcPts val="2350"/>
              </a:lnSpc>
              <a:spcBef>
                <a:spcPts val="2665"/>
              </a:spcBef>
            </a:pPr>
            <a:r>
              <a:rPr sz="2300" spc="-95" dirty="0">
                <a:solidFill>
                  <a:srgbClr val="181818"/>
                </a:solidFill>
                <a:latin typeface="Calibri"/>
                <a:cs typeface="Calibri"/>
              </a:rPr>
              <a:t>Firms</a:t>
            </a:r>
            <a:r>
              <a:rPr sz="2300" spc="-10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95" dirty="0">
                <a:solidFill>
                  <a:srgbClr val="161616"/>
                </a:solidFill>
                <a:latin typeface="Calibri"/>
                <a:cs typeface="Calibri"/>
              </a:rPr>
              <a:t>with</a:t>
            </a:r>
            <a:r>
              <a:rPr sz="2300" spc="-1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81818"/>
                </a:solidFill>
                <a:latin typeface="Calibri"/>
                <a:cs typeface="Calibri"/>
              </a:rPr>
              <a:t>deteriorating</a:t>
            </a:r>
            <a:r>
              <a:rPr sz="23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1F1F1F"/>
                </a:solidFill>
                <a:latin typeface="Calibri"/>
                <a:cs typeface="Calibri"/>
              </a:rPr>
              <a:t>OCF</a:t>
            </a:r>
            <a:r>
              <a:rPr sz="2300" spc="-1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114" dirty="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sz="2300" spc="-14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A1A1A"/>
                </a:solidFill>
                <a:latin typeface="Calibri"/>
                <a:cs typeface="Calibri"/>
              </a:rPr>
              <a:t>high</a:t>
            </a:r>
            <a:r>
              <a:rPr sz="2300" spc="-10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14" dirty="0">
                <a:solidFill>
                  <a:srgbClr val="181818"/>
                </a:solidFill>
                <a:latin typeface="Calibri"/>
                <a:cs typeface="Calibri"/>
              </a:rPr>
              <a:t>debt</a:t>
            </a:r>
            <a:r>
              <a:rPr sz="2300" spc="-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80" dirty="0">
                <a:solidFill>
                  <a:srgbClr val="1C1C1C"/>
                </a:solidFill>
                <a:latin typeface="Calibri"/>
                <a:cs typeface="Calibri"/>
              </a:rPr>
              <a:t>ratios</a:t>
            </a:r>
            <a:r>
              <a:rPr sz="2300" spc="-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120" dirty="0">
                <a:solidFill>
                  <a:srgbClr val="181818"/>
                </a:solidFill>
                <a:latin typeface="Calibri"/>
                <a:cs typeface="Calibri"/>
              </a:rPr>
              <a:t>face</a:t>
            </a:r>
            <a:r>
              <a:rPr sz="2300" spc="-1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150" dirty="0">
                <a:solidFill>
                  <a:srgbClr val="181818"/>
                </a:solidFill>
                <a:latin typeface="Calibri"/>
                <a:cs typeface="Calibri"/>
              </a:rPr>
              <a:t>imminent</a:t>
            </a:r>
            <a:r>
              <a:rPr sz="2300" spc="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A1A1A"/>
                </a:solidFill>
                <a:latin typeface="Calibri"/>
                <a:cs typeface="Calibri"/>
              </a:rPr>
              <a:t>exclusion </a:t>
            </a:r>
            <a:r>
              <a:rPr sz="2300" spc="-75" dirty="0">
                <a:solidFill>
                  <a:srgbClr val="131313"/>
                </a:solidFill>
                <a:latin typeface="Calibri"/>
                <a:cs typeface="Calibri"/>
              </a:rPr>
              <a:t>risk.</a:t>
            </a:r>
            <a:r>
              <a:rPr sz="2300" spc="-204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300" spc="-75" dirty="0">
                <a:solidFill>
                  <a:srgbClr val="151515"/>
                </a:solidFill>
                <a:latin typeface="Calibri"/>
                <a:cs typeface="Calibri"/>
              </a:rPr>
              <a:t>Portfolios</a:t>
            </a:r>
            <a:r>
              <a:rPr sz="2300" spc="-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81818"/>
                </a:solidFill>
                <a:latin typeface="Calibri"/>
                <a:cs typeface="Calibri"/>
              </a:rPr>
              <a:t>should</a:t>
            </a:r>
            <a:r>
              <a:rPr sz="2300" spc="-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95" dirty="0">
                <a:solidFill>
                  <a:srgbClr val="1A1A1A"/>
                </a:solidFill>
                <a:latin typeface="Calibri"/>
                <a:cs typeface="Calibri"/>
              </a:rPr>
              <a:t>be</a:t>
            </a:r>
            <a:r>
              <a:rPr sz="2300" spc="-2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40" dirty="0">
                <a:solidFill>
                  <a:srgbClr val="0F0F0F"/>
                </a:solidFill>
                <a:latin typeface="Calibri"/>
                <a:cs typeface="Calibri"/>
              </a:rPr>
              <a:t>screened</a:t>
            </a:r>
            <a:r>
              <a:rPr sz="2300" spc="-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300" spc="-90" dirty="0">
                <a:solidFill>
                  <a:srgbClr val="1C1C1C"/>
                </a:solidFill>
                <a:latin typeface="Calibri"/>
                <a:cs typeface="Calibri"/>
              </a:rPr>
              <a:t>using</a:t>
            </a:r>
            <a:r>
              <a:rPr sz="2300" spc="-1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2300" spc="-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11111"/>
                </a:solidFill>
                <a:latin typeface="Calibri"/>
                <a:cs typeface="Calibri"/>
              </a:rPr>
              <a:t>indicators.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5647" y="2724127"/>
            <a:ext cx="7423784" cy="15494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spc="130" dirty="0">
                <a:solidFill>
                  <a:srgbClr val="006EAC"/>
                </a:solidFill>
                <a:latin typeface="Calibri"/>
                <a:cs typeface="Calibri"/>
              </a:rPr>
              <a:t>Management</a:t>
            </a:r>
            <a:endParaRPr sz="3850">
              <a:latin typeface="Calibri"/>
              <a:cs typeface="Calibri"/>
            </a:endParaRPr>
          </a:p>
          <a:p>
            <a:pPr marL="24765" marR="5080" indent="3810">
              <a:lnSpc>
                <a:spcPts val="2350"/>
              </a:lnSpc>
              <a:spcBef>
                <a:spcPts val="2665"/>
              </a:spcBef>
            </a:pPr>
            <a:r>
              <a:rPr sz="2300" spc="-65" dirty="0">
                <a:solidFill>
                  <a:srgbClr val="1A1A1A"/>
                </a:solidFill>
                <a:latin typeface="Calibri"/>
                <a:cs typeface="Calibri"/>
              </a:rPr>
              <a:t>Positive</a:t>
            </a:r>
            <a:r>
              <a:rPr sz="2300" spc="-1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14" dirty="0">
                <a:solidFill>
                  <a:srgbClr val="1A1A1A"/>
                </a:solidFill>
                <a:latin typeface="Calibri"/>
                <a:cs typeface="Calibri"/>
              </a:rPr>
              <a:t>operating</a:t>
            </a:r>
            <a:r>
              <a:rPr sz="23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10" dirty="0">
                <a:solidFill>
                  <a:srgbClr val="181818"/>
                </a:solidFill>
                <a:latin typeface="Calibri"/>
                <a:cs typeface="Calibri"/>
              </a:rPr>
              <a:t>cash</a:t>
            </a:r>
            <a:r>
              <a:rPr sz="2300" spc="-7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60" dirty="0">
                <a:solidFill>
                  <a:srgbClr val="1D1D1D"/>
                </a:solidFill>
                <a:latin typeface="Calibri"/>
                <a:cs typeface="Calibri"/>
              </a:rPr>
              <a:t>flow</a:t>
            </a:r>
            <a:r>
              <a:rPr sz="2300" spc="-18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-35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2300" spc="-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300" spc="-105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2300" spc="-2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130" dirty="0">
                <a:solidFill>
                  <a:srgbClr val="1D1D1D"/>
                </a:solidFill>
                <a:latin typeface="Calibri"/>
                <a:cs typeface="Calibri"/>
              </a:rPr>
              <a:t>most</a:t>
            </a:r>
            <a:r>
              <a:rPr sz="2300" spc="-5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81818"/>
                </a:solidFill>
                <a:latin typeface="Calibri"/>
                <a:cs typeface="Calibri"/>
              </a:rPr>
              <a:t>controllable</a:t>
            </a:r>
            <a:r>
              <a:rPr sz="23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161616"/>
                </a:solidFill>
                <a:latin typeface="Calibri"/>
                <a:cs typeface="Calibri"/>
              </a:rPr>
              <a:t>internal</a:t>
            </a:r>
            <a:r>
              <a:rPr sz="2300" spc="-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114" dirty="0">
                <a:solidFill>
                  <a:srgbClr val="181818"/>
                </a:solidFill>
                <a:latin typeface="Calibri"/>
                <a:cs typeface="Calibri"/>
              </a:rPr>
              <a:t>lever</a:t>
            </a:r>
            <a:r>
              <a:rPr sz="230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1A1A1A"/>
                </a:solidFill>
                <a:latin typeface="Calibri"/>
                <a:cs typeface="Calibri"/>
              </a:rPr>
              <a:t>to </a:t>
            </a:r>
            <a:r>
              <a:rPr sz="2300" spc="-120" dirty="0">
                <a:solidFill>
                  <a:srgbClr val="181818"/>
                </a:solidFill>
                <a:latin typeface="Calibri"/>
                <a:cs typeface="Calibri"/>
              </a:rPr>
              <a:t>ensure</a:t>
            </a:r>
            <a:r>
              <a:rPr sz="2300" spc="-8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105" dirty="0">
                <a:solidFill>
                  <a:srgbClr val="0F0F0F"/>
                </a:solidFill>
                <a:latin typeface="Calibri"/>
                <a:cs typeface="Calibri"/>
              </a:rPr>
              <a:t>index</a:t>
            </a:r>
            <a:r>
              <a:rPr sz="2300" spc="-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61616"/>
                </a:solidFill>
                <a:latin typeface="Calibri"/>
                <a:cs typeface="Calibri"/>
              </a:rPr>
              <a:t>retention.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5945" y="5887643"/>
            <a:ext cx="1332611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Policy: </a:t>
            </a:r>
            <a:r>
              <a:rPr sz="2550" dirty="0">
                <a:solidFill>
                  <a:srgbClr val="1D1D1D"/>
                </a:solidFill>
                <a:latin typeface="Calibri"/>
                <a:cs typeface="Calibri"/>
              </a:rPr>
              <a:t>Regulators</a:t>
            </a:r>
            <a:r>
              <a:rPr sz="2550" spc="1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(PSX)</a:t>
            </a:r>
            <a:r>
              <a:rPr sz="2550" spc="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255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deploy</a:t>
            </a:r>
            <a:r>
              <a:rPr sz="255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255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scoring</a:t>
            </a:r>
            <a:r>
              <a:rPr sz="2550" spc="1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55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flag</a:t>
            </a:r>
            <a:r>
              <a:rPr sz="255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at-risk</a:t>
            </a:r>
            <a:r>
              <a:rPr sz="2550" spc="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firms</a:t>
            </a:r>
            <a:r>
              <a:rPr sz="255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42424"/>
                </a:solidFill>
                <a:latin typeface="Calibri"/>
                <a:cs typeface="Calibri"/>
              </a:rPr>
              <a:t>for</a:t>
            </a:r>
            <a:r>
              <a:rPr sz="2550" spc="6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timely</a:t>
            </a:r>
            <a:r>
              <a:rPr sz="2550" spc="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corrective</a:t>
            </a:r>
            <a:r>
              <a:rPr sz="2550" spc="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D1D"/>
                </a:solidFill>
                <a:latin typeface="Calibri"/>
                <a:cs typeface="Calibri"/>
              </a:rPr>
              <a:t>engagement.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303" y="1097214"/>
            <a:ext cx="70485" cy="889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650" spc="-1000" dirty="0">
                <a:solidFill>
                  <a:srgbClr val="086797"/>
                </a:solidFill>
                <a:latin typeface="Calibri"/>
                <a:cs typeface="Calibri"/>
              </a:rPr>
              <a:t>i</a:t>
            </a:r>
            <a:endParaRPr sz="56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30" dirty="0"/>
              <a:t>Limitations</a:t>
            </a:r>
            <a:r>
              <a:rPr spc="45" dirty="0"/>
              <a:t> </a:t>
            </a:r>
            <a:r>
              <a:rPr sz="8475" baseline="-3441" dirty="0">
                <a:solidFill>
                  <a:srgbClr val="0A70A1"/>
                </a:solidFill>
              </a:rPr>
              <a:t>of</a:t>
            </a:r>
            <a:r>
              <a:rPr sz="8475" spc="60" baseline="-3441" dirty="0">
                <a:solidFill>
                  <a:srgbClr val="0A70A1"/>
                </a:solidFill>
              </a:rPr>
              <a:t> </a:t>
            </a:r>
            <a:r>
              <a:rPr sz="5650" dirty="0">
                <a:solidFill>
                  <a:srgbClr val="016B9A"/>
                </a:solidFill>
              </a:rPr>
              <a:t>the</a:t>
            </a:r>
            <a:r>
              <a:rPr sz="5650" spc="-265" dirty="0">
                <a:solidFill>
                  <a:srgbClr val="016B9A"/>
                </a:solidFill>
              </a:rPr>
              <a:t> </a:t>
            </a:r>
            <a:r>
              <a:rPr sz="8475" spc="232" baseline="-3441" dirty="0">
                <a:solidFill>
                  <a:srgbClr val="03699C"/>
                </a:solidFill>
              </a:rPr>
              <a:t>Study</a:t>
            </a:r>
            <a:endParaRPr sz="8475" baseline="-3441"/>
          </a:p>
        </p:txBody>
      </p:sp>
      <p:sp>
        <p:nvSpPr>
          <p:cNvPr id="4" name="object 4"/>
          <p:cNvSpPr txBox="1"/>
          <p:nvPr/>
        </p:nvSpPr>
        <p:spPr>
          <a:xfrm>
            <a:off x="1223084" y="5165152"/>
            <a:ext cx="13942694" cy="222440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18770" indent="-300990">
              <a:lnSpc>
                <a:spcPct val="100000"/>
              </a:lnSpc>
              <a:spcBef>
                <a:spcPts val="1360"/>
              </a:spcBef>
              <a:buClr>
                <a:srgbClr val="262626"/>
              </a:buClr>
              <a:buChar char="•"/>
              <a:tabLst>
                <a:tab pos="318770" algn="l"/>
                <a:tab pos="893444" algn="l"/>
              </a:tabLst>
            </a:pPr>
            <a:r>
              <a:rPr sz="2550" spc="-50" dirty="0">
                <a:solidFill>
                  <a:srgbClr val="13A3E9"/>
                </a:solidFill>
                <a:latin typeface="Calibri"/>
                <a:cs typeface="Calibri"/>
              </a:rPr>
              <a:t>M</a:t>
            </a:r>
            <a:r>
              <a:rPr sz="2550" dirty="0">
                <a:solidFill>
                  <a:srgbClr val="13A3E9"/>
                </a:solidFill>
                <a:latin typeface="Calibri"/>
                <a:cs typeface="Calibri"/>
              </a:rPr>
              <a:t>	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Sample</a:t>
            </a:r>
            <a:r>
              <a:rPr sz="2550" spc="-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Size:</a:t>
            </a:r>
            <a:r>
              <a:rPr sz="2550" spc="-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Limited</a:t>
            </a:r>
            <a:r>
              <a:rPr sz="2550" spc="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sz="2550" spc="-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spc="60" dirty="0">
                <a:solidFill>
                  <a:srgbClr val="151515"/>
                </a:solidFill>
                <a:latin typeface="Calibri"/>
                <a:cs typeface="Calibri"/>
              </a:rPr>
              <a:t>21</a:t>
            </a:r>
            <a:r>
              <a:rPr sz="2550" spc="-1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exclusion</a:t>
            </a:r>
            <a:r>
              <a:rPr sz="255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Calibri"/>
                <a:cs typeface="Calibri"/>
              </a:rPr>
              <a:t>events;</a:t>
            </a:r>
            <a:r>
              <a:rPr sz="255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232323"/>
                </a:solidFill>
                <a:latin typeface="Calibri"/>
                <a:cs typeface="Calibri"/>
              </a:rPr>
              <a:t>model</a:t>
            </a:r>
            <a:r>
              <a:rPr sz="255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sensitivity</a:t>
            </a:r>
            <a:r>
              <a:rPr sz="2550" spc="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550" spc="-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81818"/>
                </a:solidFill>
                <a:latin typeface="Calibri"/>
                <a:cs typeface="Calibri"/>
              </a:rPr>
              <a:t>high.</a:t>
            </a:r>
            <a:endParaRPr sz="2550">
              <a:latin typeface="Calibri"/>
              <a:cs typeface="Calibri"/>
            </a:endParaRPr>
          </a:p>
          <a:p>
            <a:pPr marL="318770" indent="-300990">
              <a:lnSpc>
                <a:spcPct val="100000"/>
              </a:lnSpc>
              <a:spcBef>
                <a:spcPts val="1270"/>
              </a:spcBef>
              <a:buClr>
                <a:srgbClr val="282828"/>
              </a:buClr>
              <a:buChar char="•"/>
              <a:tabLst>
                <a:tab pos="318770" algn="l"/>
                <a:tab pos="894715" algn="l"/>
              </a:tabLst>
            </a:pPr>
            <a:r>
              <a:rPr sz="2550" spc="-50" dirty="0">
                <a:solidFill>
                  <a:srgbClr val="0CA7E8"/>
                </a:solidFill>
                <a:latin typeface="Calibri"/>
                <a:cs typeface="Calibri"/>
              </a:rPr>
              <a:t>@</a:t>
            </a:r>
            <a:r>
              <a:rPr sz="2550" dirty="0">
                <a:solidFill>
                  <a:srgbClr val="0CA7E8"/>
                </a:solidFill>
                <a:latin typeface="Calibri"/>
                <a:cs typeface="Calibri"/>
              </a:rPr>
              <a:t>	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Timeframe: </a:t>
            </a:r>
            <a:r>
              <a:rPr sz="2550" spc="90" dirty="0">
                <a:solidFill>
                  <a:srgbClr val="2A2A2A"/>
                </a:solidFill>
                <a:latin typeface="Calibri"/>
                <a:cs typeface="Calibri"/>
              </a:rPr>
              <a:t>5</a:t>
            </a:r>
            <a:r>
              <a:rPr sz="2550" spc="-1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years</a:t>
            </a:r>
            <a:r>
              <a:rPr sz="2550" spc="-11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1818"/>
                </a:solidFill>
                <a:latin typeface="Calibri"/>
                <a:cs typeface="Calibri"/>
              </a:rPr>
              <a:t>is</a:t>
            </a:r>
            <a:r>
              <a:rPr sz="2550" spc="-1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255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spc="-30" dirty="0">
                <a:solidFill>
                  <a:srgbClr val="1C1C1C"/>
                </a:solidFill>
                <a:latin typeface="Calibri"/>
                <a:cs typeface="Calibri"/>
              </a:rPr>
              <a:t>snapshot;</a:t>
            </a:r>
            <a:r>
              <a:rPr sz="2550" spc="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2121"/>
                </a:solidFill>
                <a:latin typeface="Calibri"/>
                <a:cs typeface="Calibri"/>
              </a:rPr>
              <a:t>longer</a:t>
            </a:r>
            <a:r>
              <a:rPr sz="2550" spc="-6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historical</a:t>
            </a:r>
            <a:r>
              <a:rPr sz="2550" spc="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data</a:t>
            </a:r>
            <a:r>
              <a:rPr sz="2550" spc="-10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would</a:t>
            </a:r>
            <a:r>
              <a:rPr sz="255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enhance</a:t>
            </a:r>
            <a:r>
              <a:rPr sz="2550" spc="-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robustness.</a:t>
            </a:r>
            <a:endParaRPr sz="2550">
              <a:latin typeface="Calibri"/>
              <a:cs typeface="Calibri"/>
            </a:endParaRPr>
          </a:p>
          <a:p>
            <a:pPr marL="334010" indent="-316230">
              <a:lnSpc>
                <a:spcPct val="100000"/>
              </a:lnSpc>
              <a:spcBef>
                <a:spcPts val="1270"/>
              </a:spcBef>
              <a:buClr>
                <a:srgbClr val="242424"/>
              </a:buClr>
              <a:buChar char="•"/>
              <a:tabLst>
                <a:tab pos="334010" algn="l"/>
                <a:tab pos="893444" algn="l"/>
              </a:tabLst>
            </a:pPr>
            <a:r>
              <a:rPr sz="2550" spc="-50" dirty="0">
                <a:solidFill>
                  <a:srgbClr val="0EA5E8"/>
                </a:solidFill>
                <a:latin typeface="Calibri"/>
                <a:cs typeface="Calibri"/>
              </a:rPr>
              <a:t>M</a:t>
            </a:r>
            <a:r>
              <a:rPr sz="2550" dirty="0">
                <a:solidFill>
                  <a:srgbClr val="0EA5E8"/>
                </a:solidFill>
                <a:latin typeface="Calibri"/>
                <a:cs typeface="Calibri"/>
              </a:rPr>
              <a:t>	</a:t>
            </a:r>
            <a:r>
              <a:rPr sz="2550" dirty="0">
                <a:solidFill>
                  <a:srgbClr val="111111"/>
                </a:solidFill>
                <a:latin typeface="Calibri"/>
                <a:cs typeface="Calibri"/>
              </a:rPr>
              <a:t>Sector</a:t>
            </a:r>
            <a:r>
              <a:rPr sz="2550" spc="5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Restriction:</a:t>
            </a:r>
            <a:r>
              <a:rPr sz="2550" spc="8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Findings</a:t>
            </a:r>
            <a:r>
              <a:rPr sz="255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are</a:t>
            </a:r>
            <a:r>
              <a:rPr sz="2550" spc="-1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restricted</a:t>
            </a:r>
            <a:r>
              <a:rPr sz="2550" spc="1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55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F0F0F"/>
                </a:solidFill>
                <a:latin typeface="Calibri"/>
                <a:cs typeface="Calibri"/>
              </a:rPr>
              <a:t>Non-Financial</a:t>
            </a:r>
            <a:r>
              <a:rPr sz="2550" spc="1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Calibri"/>
                <a:cs typeface="Calibri"/>
              </a:rPr>
              <a:t>firms;</a:t>
            </a:r>
            <a:r>
              <a:rPr sz="2550" spc="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1818"/>
                </a:solidFill>
                <a:latin typeface="Calibri"/>
                <a:cs typeface="Calibri"/>
              </a:rPr>
              <a:t>Financial</a:t>
            </a:r>
            <a:r>
              <a:rPr sz="2550" spc="114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sector</a:t>
            </a:r>
            <a:r>
              <a:rPr sz="2550" spc="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behavior</a:t>
            </a:r>
            <a:r>
              <a:rPr sz="2550" spc="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A1A1A"/>
                </a:solidFill>
                <a:latin typeface="Calibri"/>
                <a:cs typeface="Calibri"/>
              </a:rPr>
              <a:t>differs.</a:t>
            </a:r>
            <a:endParaRPr sz="255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65"/>
              </a:spcBef>
              <a:buClr>
                <a:srgbClr val="212121"/>
              </a:buClr>
              <a:buChar char="•"/>
              <a:tabLst>
                <a:tab pos="326390" algn="l"/>
                <a:tab pos="885190" algn="l"/>
              </a:tabLst>
            </a:pPr>
            <a:r>
              <a:rPr sz="2550" i="1" spc="-25" dirty="0">
                <a:solidFill>
                  <a:srgbClr val="2AB3F0"/>
                </a:solidFill>
                <a:latin typeface="Calibri"/>
                <a:cs typeface="Calibri"/>
              </a:rPr>
              <a:t>‹f›</a:t>
            </a:r>
            <a:r>
              <a:rPr sz="2550" i="1" dirty="0">
                <a:solidFill>
                  <a:srgbClr val="2AB3F0"/>
                </a:solidFill>
                <a:latin typeface="Calibri"/>
                <a:cs typeface="Calibri"/>
              </a:rPr>
              <a:t>	</a:t>
            </a:r>
            <a:r>
              <a:rPr sz="2550" spc="60" dirty="0">
                <a:solidFill>
                  <a:srgbClr val="1D1D1D"/>
                </a:solidFill>
                <a:latin typeface="Calibri"/>
                <a:cs typeface="Calibri"/>
              </a:rPr>
              <a:t>Black</a:t>
            </a:r>
            <a:r>
              <a:rPr sz="2550" spc="-20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1F1F"/>
                </a:solidFill>
                <a:latin typeface="Calibri"/>
                <a:cs typeface="Calibri"/>
              </a:rPr>
              <a:t>Box:</a:t>
            </a:r>
            <a:r>
              <a:rPr sz="2550" spc="-9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A1A1A"/>
                </a:solidFill>
                <a:latin typeface="Calibri"/>
                <a:cs typeface="Calibri"/>
              </a:rPr>
              <a:t>Ensemble</a:t>
            </a:r>
            <a:r>
              <a:rPr sz="2550" spc="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181818"/>
                </a:solidFill>
                <a:latin typeface="Calibri"/>
                <a:cs typeface="Calibri"/>
              </a:rPr>
              <a:t>models</a:t>
            </a:r>
            <a:r>
              <a:rPr sz="2550" spc="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(RF/GB)</a:t>
            </a:r>
            <a:r>
              <a:rPr sz="2550" spc="10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1616"/>
                </a:solidFill>
                <a:latin typeface="Calibri"/>
                <a:cs typeface="Calibri"/>
              </a:rPr>
              <a:t>lack</a:t>
            </a:r>
            <a:r>
              <a:rPr sz="2550" spc="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sz="2550" spc="-10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intuitive</a:t>
            </a:r>
            <a:r>
              <a:rPr sz="255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1C1C"/>
                </a:solidFill>
                <a:latin typeface="Calibri"/>
                <a:cs typeface="Calibri"/>
              </a:rPr>
              <a:t>interpretability</a:t>
            </a:r>
            <a:r>
              <a:rPr sz="255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255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51515"/>
                </a:solidFill>
                <a:latin typeface="Calibri"/>
                <a:cs typeface="Calibri"/>
              </a:rPr>
              <a:t>linear</a:t>
            </a:r>
            <a:r>
              <a:rPr sz="2550" spc="1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61616"/>
                </a:solidFill>
                <a:latin typeface="Calibri"/>
                <a:cs typeface="Calibri"/>
              </a:rPr>
              <a:t>coefficients.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674</Words>
  <Application>Microsoft Macintosh PowerPoint</Application>
  <PresentationFormat>Custom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MT</vt:lpstr>
      <vt:lpstr>Calibri</vt:lpstr>
      <vt:lpstr>Consolas</vt:lpstr>
      <vt:lpstr>Courier New</vt:lpstr>
      <vt:lpstr>Times New Roman</vt:lpstr>
      <vt:lpstr>Office Theme</vt:lpstr>
      <vt:lpstr>FINAL YEAR PROJECT</vt:lpstr>
      <vt:lpstr>Problem &amp; Research Objectives</vt:lpstr>
      <vt:lpstr>Data Collection &amp; Sources</vt:lpstr>
      <vt:lpstr>Data Pre-processing Pipeline</vt:lpstr>
      <vt:lpstr>Methodology &amp; Algorithms</vt:lpstr>
      <vt:lpstr>Robustness: Results With vs. Without SMOTE</vt:lpstr>
      <vt:lpstr>Final Model Performance Comparison</vt:lpstr>
      <vt:lpstr>Answering Research questions</vt:lpstr>
      <vt:lpstr>Determinants of Exclusion</vt:lpstr>
      <vt:lpstr>Findings &amp; Implications</vt:lpstr>
      <vt:lpstr>Limitations of the 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Microsoft Office User</cp:lastModifiedBy>
  <cp:revision>1</cp:revision>
  <dcterms:created xsi:type="dcterms:W3CDTF">2026-05-05T10:23:51Z</dcterms:created>
  <dcterms:modified xsi:type="dcterms:W3CDTF">2026-08-16T22:18:34Z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LastSaved">
    <vt:filetime>2026-05-05T00:00:00Z</vt:filetime>
  </property>
</Properties>
</file>